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73" r:id="rId7"/>
    <p:sldId id="274" r:id="rId8"/>
    <p:sldId id="262" r:id="rId9"/>
    <p:sldId id="263" r:id="rId10"/>
    <p:sldId id="264" r:id="rId11"/>
    <p:sldId id="276" r:id="rId12"/>
    <p:sldId id="277" r:id="rId13"/>
    <p:sldId id="278" r:id="rId14"/>
    <p:sldId id="268" r:id="rId15"/>
    <p:sldId id="280" r:id="rId16"/>
    <p:sldId id="282" r:id="rId17"/>
    <p:sldId id="283" r:id="rId18"/>
    <p:sldId id="284" r:id="rId19"/>
    <p:sldId id="285" r:id="rId20"/>
    <p:sldId id="286" r:id="rId21"/>
    <p:sldId id="287" r:id="rId22"/>
    <p:sldId id="267" r:id="rId23"/>
    <p:sldId id="269" r:id="rId24"/>
    <p:sldId id="28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CE82CF-9098-D6CF-EA3F-437117EF0310}" v="326" dt="2026-04-21T08:34:27.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758" autoAdjust="0"/>
  </p:normalViewPr>
  <p:slideViewPr>
    <p:cSldViewPr snapToGrid="0" snapToObjects="1">
      <p:cViewPr varScale="1">
        <p:scale>
          <a:sx n="97" d="100"/>
          <a:sy n="97" d="100"/>
        </p:scale>
        <p:origin x="10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800" b="0" i="0" u="none" strike="noStrike">
                <a:solidFill>
                  <a:srgbClr val="000000"/>
                </a:solidFill>
                <a:latin typeface="Arial"/>
              </a:defRPr>
            </a:pPr>
            <a:r>
              <a:rPr lang="it-IT" sz="1800" b="0" i="0" u="none" strike="noStrike">
                <a:solidFill>
                  <a:srgbClr val="000000"/>
                </a:solidFill>
                <a:latin typeface="Arial"/>
              </a:rPr>
              <a:t>BER (%) vs SNR — BPSK over AWGN</a:t>
            </a:r>
          </a:p>
        </c:rich>
      </c:tx>
      <c:overlay val="0"/>
    </c:title>
    <c:autoTitleDeleted val="0"/>
    <c:plotArea>
      <c:layout/>
      <c:barChart>
        <c:barDir val="col"/>
        <c:grouping val="clustered"/>
        <c:varyColors val="0"/>
        <c:ser>
          <c:idx val="0"/>
          <c:order val="0"/>
          <c:tx>
            <c:strRef>
              <c:f>Sheet1!$B$1</c:f>
              <c:strCache>
                <c:ptCount val="1"/>
                <c:pt idx="0">
                  <c:v>BER (%)</c:v>
                </c:pt>
              </c:strCache>
            </c:strRef>
          </c:tx>
          <c:spPr>
            <a:solidFill>
              <a:srgbClr val="028090"/>
            </a:solidFill>
            <a:effectLst/>
          </c:spPr>
          <c:invertIfNegative val="0"/>
          <c:dLbls>
            <c:numFmt formatCode="#,##0" sourceLinked="0"/>
            <c:spPr>
              <a:noFill/>
              <a:ln>
                <a:noFill/>
              </a:ln>
              <a:effectLst/>
            </c:spPr>
            <c:txPr>
              <a:bodyPr/>
              <a:lstStyle/>
              <a:p>
                <a:pPr>
                  <a:defRPr sz="900" b="0" i="0" u="none" strike="noStrike">
                    <a:solidFill>
                      <a:srgbClr val="0A2540"/>
                    </a:solidFill>
                    <a:latin typeface="Arial"/>
                  </a:defRPr>
                </a:pPr>
                <a:endParaRPr lang="en-B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 dB</c:v>
                </c:pt>
                <c:pt idx="1">
                  <c:v>2 dB</c:v>
                </c:pt>
                <c:pt idx="2">
                  <c:v>4 dB</c:v>
                </c:pt>
                <c:pt idx="3">
                  <c:v>6 dB</c:v>
                </c:pt>
                <c:pt idx="4">
                  <c:v>8 dB</c:v>
                </c:pt>
                <c:pt idx="5">
                  <c:v>10 dB</c:v>
                </c:pt>
                <c:pt idx="6">
                  <c:v>12 dB</c:v>
                </c:pt>
              </c:strCache>
            </c:strRef>
          </c:cat>
          <c:val>
            <c:numRef>
              <c:f>Sheet1!$B$2:$B$8</c:f>
              <c:numCache>
                <c:formatCode>General</c:formatCode>
                <c:ptCount val="7"/>
                <c:pt idx="0">
                  <c:v>7.86</c:v>
                </c:pt>
                <c:pt idx="1">
                  <c:v>3.75</c:v>
                </c:pt>
                <c:pt idx="2">
                  <c:v>1.25</c:v>
                </c:pt>
                <c:pt idx="3">
                  <c:v>0.24</c:v>
                </c:pt>
                <c:pt idx="4">
                  <c:v>2.4E-2</c:v>
                </c:pt>
                <c:pt idx="5">
                  <c:v>1E-3</c:v>
                </c:pt>
                <c:pt idx="6">
                  <c:v>1.0000000000000001E-5</c:v>
                </c:pt>
              </c:numCache>
            </c:numRef>
          </c:val>
          <c:extLst>
            <c:ext xmlns:c16="http://schemas.microsoft.com/office/drawing/2014/chart" uri="{C3380CC4-5D6E-409C-BE32-E72D297353CC}">
              <c16:uniqueId val="{00000000-7C9C-4993-8E73-9E4256F10C8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D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E7BB41-76D3-4EBF-84E9-79251D485B45}"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05011B1C-B8E3-4BB9-BDBA-4A9ED1D571E7}" type="pres">
      <dgm:prSet presAssocID="{B1E7BB41-76D3-4EBF-84E9-79251D485B45}" presName="Name0" presStyleCnt="0">
        <dgm:presLayoutVars>
          <dgm:chMax val="7"/>
          <dgm:chPref val="7"/>
          <dgm:dir/>
        </dgm:presLayoutVars>
      </dgm:prSet>
      <dgm:spPr/>
    </dgm:pt>
    <dgm:pt modelId="{A51D83DE-5B48-4068-AC27-E59192CA7CAB}" type="pres">
      <dgm:prSet presAssocID="{B1E7BB41-76D3-4EBF-84E9-79251D485B45}" presName="Name1" presStyleCnt="0"/>
      <dgm:spPr/>
    </dgm:pt>
  </dgm:ptLst>
  <dgm:cxnLst>
    <dgm:cxn modelId="{F2404F82-BE2E-4C8D-94C3-6311591760B0}" type="presOf" srcId="{B1E7BB41-76D3-4EBF-84E9-79251D485B45}" destId="{05011B1C-B8E3-4BB9-BDBA-4A9ED1D571E7}" srcOrd="0" destOrd="0" presId="urn:microsoft.com/office/officeart/2008/layout/CircularPictureCallout"/>
    <dgm:cxn modelId="{C8056AFD-A858-4A36-B67D-1B86A6014FE3}" type="presParOf" srcId="{05011B1C-B8E3-4BB9-BDBA-4A9ED1D571E7}" destId="{A51D83DE-5B48-4068-AC27-E59192CA7CAB}" srcOrd="0" destOrd="0" presId="urn:microsoft.com/office/officeart/2008/layout/CircularPictureCallou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8783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group and supervisors. This project was completed for TELE 523 — Remote Control and Telemetry at BIUST. The system designs and evaluates a complete end-to-end telemetry pipeline for smart water quality monitoring.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walk through the 7 sections. Mention that the presentation follows the pipeline sequentially — from why we built the system through to final results. Estimated time: 20–25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scale of the problem — 2 billion people, 1.4 million deaths. Draw attention to the Zimbabwe cholera example. Explain that Sub-Saharan Africa, including Botswana, still faces these challenges. The core problem: current systems don't rigorously evaluate the communication layer. Our project fills that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stage sequentially. Each stage is owned by a named group member and implemented as a modular Python function. The output of each stage is the verified input to the next — ensuring pipeline integrity. Stage 8 (Monitoring Output, in mint) is the final deliverable seen by operators.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PCM: the continuous normalised DO signal is mapped to 256 discrete levels. Each sample becomes an 8-bit binary codeword. The SQNR of 49.9 dB means quantisation error is negligible relative to channel noise. BPSK is chosen because it gives the lowest BER among binary schemes — encoding information in phase makes it inherently immune to amplitude noise unlike ASK.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AWGN model adds zero-mean Gaussian noise scaled to the specified SNR level. We evaluate 7 SNR points from 0 dB (very noisy) to 12 dB (near ideal). The ber() function compares transmitted vs received bits element-wise. BER drops steeply from 7.86% at 0 dB to under 0.001% at 12 dB — matching theoretical Q-function predictions exactly.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recovery reverses everything done in stages 3–5. The hard-decision detector is optimal under AWGN — placing the decision boundary at zero. PCM decoding groups 8 bits back into quantisation indices. Any bit error causes the recovered index to be wrong, adding reconstruction error on top of baseline quantisation error. RMSE at SNR* (12 dB) is dominated by quantisation noise alone.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02C39A"/>
                </a:solidFill>
                <a:latin typeface="Calibri" pitchFamily="34" charset="0"/>
                <a:ea typeface="Calibri" pitchFamily="34" charset="-122"/>
                <a:cs typeface="Calibri" pitchFamily="34" charset="-120"/>
              </a:rPr>
              <a:t>Key insight: </a:t>
            </a:r>
            <a:r>
              <a:rPr lang="en-US" sz="1200" dirty="0">
                <a:solidFill>
                  <a:srgbClr val="FFFFFF"/>
                </a:solidFill>
                <a:latin typeface="Calibri" pitchFamily="34" charset="0"/>
                <a:ea typeface="Calibri" pitchFamily="34" charset="-122"/>
                <a:cs typeface="Calibri" pitchFamily="34" charset="-120"/>
              </a:rPr>
              <a:t>Temperature dominates both segments (62–67%). In Event mode, dissolved oxygen drops to only 9.45%, </a:t>
            </a:r>
            <a:r>
              <a:rPr lang="en-US" sz="1200" dirty="0" err="1">
                <a:solidFill>
                  <a:srgbClr val="FFFFFF"/>
                </a:solidFill>
                <a:latin typeface="Calibri" pitchFamily="34" charset="0"/>
                <a:ea typeface="Calibri" pitchFamily="34" charset="-122"/>
                <a:cs typeface="Calibri" pitchFamily="34" charset="-120"/>
              </a:rPr>
              <a:t>signalling</a:t>
            </a:r>
            <a:r>
              <a:rPr lang="en-US" sz="1200" dirty="0">
                <a:solidFill>
                  <a:srgbClr val="FFFFFF"/>
                </a:solidFill>
                <a:latin typeface="Calibri" pitchFamily="34" charset="0"/>
                <a:ea typeface="Calibri" pitchFamily="34" charset="-122"/>
                <a:cs typeface="Calibri" pitchFamily="34" charset="-120"/>
              </a:rPr>
              <a:t> a water quality alert. The system classifies these segments automatically.</a:t>
            </a:r>
            <a:endParaRPr lang="en-US" sz="14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D9CE-10A9-22CF-3738-69A1A99D0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D7B01-A0ED-AE99-4D3D-BCA8F6C98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A8CB4-A7E8-FC15-C501-9BE86A7CD481}"/>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693D0DF7-F5B2-40ED-58D1-883DB412133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868010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74372-9726-76CE-09B4-DD3E471B0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FBDBF-7DAB-BB26-3244-B48904B42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64576-3429-F04E-4C35-06ACA3817F4A}"/>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A2E75E8E-ADF9-CBC0-90EB-785D754C2E3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47424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AA0CA-32F8-6B2D-D002-71373E2B6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224B8-8B7B-F768-BBF4-FA49D8A01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A972D-15CE-DFD3-99B0-F3A93823D15F}"/>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282A6D1F-E717-AFAD-1956-E8E4254E3E1C}"/>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2764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D0C15-2860-FE36-A3C0-6D308FB2D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80662-BB0B-16BD-8FD7-906DA7DDE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AFBAA-4C55-61E2-63ED-6715337AE8BC}"/>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8D73FF68-7B1D-D0B5-DA63-B3F12466E24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06103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CD90E-7CB6-4229-9B52-583B31154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C6423-6D43-FEE4-618B-3C1E48C05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8487E-87FD-0D77-CE68-2E921249F18C}"/>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71A1D655-1BD4-60FB-0A72-1E828F3121C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21841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4A3A5-0092-CF26-EF91-7B6B063D7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00127-09B0-D795-A3B3-6A558E191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884B1-2468-9741-2041-3AA353BECE31}"/>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1118C401-000C-25B6-4DBE-7990994BF72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63374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9F6F-F26B-B3BC-3682-D35BAA1A6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E090E-7CE2-6705-2833-8E5F12569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C1EB0-DC76-D23C-D154-9D98376ED4CE}"/>
              </a:ext>
            </a:extLst>
          </p:cNvPr>
          <p:cNvSpPr>
            <a:spLocks noGrp="1"/>
          </p:cNvSpPr>
          <p:nvPr>
            <p:ph type="body" idx="1"/>
          </p:nvPr>
        </p:nvSpPr>
        <p:spPr/>
        <p:txBody>
          <a:bodyPr/>
          <a:lstStyle/>
          <a:p>
            <a:r>
              <a:rPr lang="en-US" dirty="0"/>
              <a:t>The dashboard was built in Streamlit and integrates with Power BI. Walk through the four features: the top metrics row gives an instant system health overview; the alert panel highlights any threshold violations with visual warnings; the trend charts show the full Jan-Mar 2024 monitoring period; and results can be downloaded as CSV for further analysis.</a:t>
            </a:r>
          </a:p>
        </p:txBody>
      </p:sp>
      <p:sp>
        <p:nvSpPr>
          <p:cNvPr id="4" name="Slide Number Placeholder 3">
            <a:extLst>
              <a:ext uri="{FF2B5EF4-FFF2-40B4-BE49-F238E27FC236}">
                <a16:creationId xmlns:a16="http://schemas.microsoft.com/office/drawing/2014/main" id="{6DCB4437-4F2B-AEBF-7C7E-5FBC5C73DCB6}"/>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27718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four key results: (1) 49.9 dB SQNR means quantisation adds negligible distortion; (2) the ×24 Nyquist margin means our sampling is very conservative and safe; (3) SNR* = 12 dB is the optimal operating point at which we reconstruct the signal; (4) 100% recall on DO anomaly events proves the full pipeline works end-to-end. Stress that empirical BER matching the Q-function validates our implementation is correct.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key findings concisely — one per row. Emphasise that empirical results validated theory, and that the system correctly detected all injected anomaly events. For future work: QPSK doubles throughput at similar BER; QAM offers greater spectral efficiency but demands higher SNR; fading channels would model multipath effects in real rivers. Thank the supervisors and audience.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294C-19FA-D932-5A99-CB7E36BBA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5CFCB-9E7E-BCB8-34BB-C85F4C8F5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F543BF-ABBA-316F-0E04-370CF244C7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126DE-EA50-5ACD-3986-FBE0430010A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6705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94229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50BC52B-9126-E300-0890-B77C5CF754CE}"/>
              </a:ext>
            </a:extLst>
          </p:cNvPr>
          <p:cNvPicPr>
            <a:picLocks noChangeAspect="1" noChangeArrowheads="1"/>
          </p:cNvPicPr>
          <p:nvPr/>
        </p:nvPicPr>
        <p:blipFill>
          <a:blip r:embed="rId3">
            <a:alphaModFix amt="74000"/>
            <a:extLst>
              <a:ext uri="{28A0092B-C50C-407E-A947-70E740481C1C}">
                <a14:useLocalDpi xmlns:a14="http://schemas.microsoft.com/office/drawing/2010/main" val="0"/>
              </a:ext>
            </a:extLst>
          </a:blip>
          <a:srcRect/>
          <a:stretch>
            <a:fillRect/>
          </a:stretch>
        </p:blipFill>
        <p:spPr bwMode="auto">
          <a:xfrm>
            <a:off x="2939" y="-484632"/>
            <a:ext cx="9209641" cy="3429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2" name="Shape 0"/>
          <p:cNvSpPr/>
          <p:nvPr/>
        </p:nvSpPr>
        <p:spPr>
          <a:xfrm>
            <a:off x="0" y="0"/>
            <a:ext cx="9144000" cy="64008"/>
          </a:xfrm>
          <a:prstGeom prst="rect">
            <a:avLst/>
          </a:prstGeom>
          <a:solidFill>
            <a:srgbClr val="02C39A"/>
          </a:solidFill>
          <a:ln w="12700">
            <a:solidFill>
              <a:srgbClr val="02C39A"/>
            </a:solidFill>
            <a:prstDash val="solid"/>
          </a:ln>
        </p:spPr>
        <p:txBody>
          <a:bodyPr/>
          <a:lstStyle/>
          <a:p>
            <a:endParaRPr lang="en-BW"/>
          </a:p>
        </p:txBody>
      </p:sp>
      <p:sp>
        <p:nvSpPr>
          <p:cNvPr id="3" name="Shape 1"/>
          <p:cNvSpPr/>
          <p:nvPr/>
        </p:nvSpPr>
        <p:spPr>
          <a:xfrm>
            <a:off x="5532120" y="-484632"/>
            <a:ext cx="3840480" cy="3840480"/>
          </a:xfrm>
          <a:prstGeom prst="ellipse">
            <a:avLst/>
          </a:prstGeom>
          <a:solidFill>
            <a:srgbClr val="1C7293">
              <a:alpha val="22000"/>
            </a:srgbClr>
          </a:solidFill>
          <a:ln w="12700">
            <a:solidFill>
              <a:srgbClr val="1C7293">
                <a:alpha val="22000"/>
              </a:srgbClr>
            </a:solidFill>
            <a:prstDash val="solid"/>
          </a:ln>
        </p:spPr>
        <p:txBody>
          <a:bodyPr/>
          <a:lstStyle/>
          <a:p>
            <a:endParaRPr lang="en-BW"/>
          </a:p>
        </p:txBody>
      </p:sp>
      <p:sp>
        <p:nvSpPr>
          <p:cNvPr id="4" name="Shape 2"/>
          <p:cNvSpPr/>
          <p:nvPr/>
        </p:nvSpPr>
        <p:spPr>
          <a:xfrm>
            <a:off x="7132320" y="91440"/>
            <a:ext cx="2377440" cy="2377440"/>
          </a:xfrm>
          <a:prstGeom prst="ellipse">
            <a:avLst/>
          </a:prstGeom>
          <a:solidFill>
            <a:srgbClr val="02C39A">
              <a:alpha val="18000"/>
            </a:srgbClr>
          </a:solidFill>
          <a:ln w="12700">
            <a:solidFill>
              <a:srgbClr val="02C39A">
                <a:alpha val="18000"/>
              </a:srgbClr>
            </a:solidFill>
            <a:prstDash val="solid"/>
          </a:ln>
        </p:spPr>
        <p:txBody>
          <a:bodyPr/>
          <a:lstStyle/>
          <a:p>
            <a:endParaRPr lang="en-BW"/>
          </a:p>
        </p:txBody>
      </p:sp>
      <p:sp>
        <p:nvSpPr>
          <p:cNvPr id="5" name="Text 3"/>
          <p:cNvSpPr/>
          <p:nvPr/>
        </p:nvSpPr>
        <p:spPr>
          <a:xfrm>
            <a:off x="457200" y="4599432"/>
            <a:ext cx="7315200" cy="256032"/>
          </a:xfrm>
          <a:prstGeom prst="rect">
            <a:avLst/>
          </a:prstGeom>
          <a:noFill/>
          <a:ln/>
        </p:spPr>
        <p:txBody>
          <a:bodyPr wrap="square" lIns="0" tIns="0" rIns="0" bIns="0" rtlCol="0" anchor="ctr"/>
          <a:lstStyle/>
          <a:p>
            <a:pPr marL="0" indent="0">
              <a:buNone/>
            </a:pPr>
            <a:r>
              <a:rPr lang="en-US" sz="900" dirty="0">
                <a:solidFill>
                  <a:srgbClr val="02C39A"/>
                </a:solidFill>
                <a:latin typeface="Calibri" pitchFamily="34" charset="0"/>
                <a:ea typeface="Calibri" pitchFamily="34" charset="-122"/>
                <a:cs typeface="Calibri" pitchFamily="34" charset="-120"/>
              </a:rPr>
              <a:t>BIUST  ·  Faculty of Engineering and Technology  ·  TELE 523</a:t>
            </a:r>
            <a:endParaRPr lang="en-US" sz="900" dirty="0"/>
          </a:p>
        </p:txBody>
      </p:sp>
      <p:sp>
        <p:nvSpPr>
          <p:cNvPr id="6" name="Text 4"/>
          <p:cNvSpPr/>
          <p:nvPr/>
        </p:nvSpPr>
        <p:spPr>
          <a:xfrm>
            <a:off x="457200" y="658368"/>
            <a:ext cx="6217920" cy="1920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Design and Performance Analysis</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of a Telemetry-Based Smart</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Water Quality Monitoring System</a:t>
            </a:r>
            <a:endParaRPr lang="en-US" sz="2800" dirty="0"/>
          </a:p>
        </p:txBody>
      </p:sp>
      <p:sp>
        <p:nvSpPr>
          <p:cNvPr id="7" name="Text 5"/>
          <p:cNvSpPr/>
          <p:nvPr/>
        </p:nvSpPr>
        <p:spPr>
          <a:xfrm>
            <a:off x="457200" y="2697480"/>
            <a:ext cx="6400800" cy="274320"/>
          </a:xfrm>
          <a:prstGeom prst="rect">
            <a:avLst/>
          </a:prstGeom>
          <a:noFill/>
          <a:ln/>
        </p:spPr>
        <p:txBody>
          <a:bodyPr wrap="square" lIns="0" tIns="0" rIns="0" bIns="0" rtlCol="0" anchor="ctr"/>
          <a:lstStyle/>
          <a:p>
            <a:pPr marL="0" indent="0">
              <a:buNone/>
            </a:pPr>
            <a:r>
              <a:rPr lang="en-US" sz="1200" dirty="0">
                <a:solidFill>
                  <a:srgbClr val="E2EDF5"/>
                </a:solidFill>
                <a:latin typeface="Calibri" pitchFamily="34" charset="0"/>
                <a:ea typeface="Calibri" pitchFamily="34" charset="-122"/>
                <a:cs typeface="Calibri" pitchFamily="34" charset="-120"/>
              </a:rPr>
              <a:t>Remote Control and Telemetry  </a:t>
            </a:r>
            <a:endParaRPr lang="en-US" sz="1200" dirty="0"/>
          </a:p>
        </p:txBody>
      </p:sp>
      <p:sp>
        <p:nvSpPr>
          <p:cNvPr id="8" name="Shape 6"/>
          <p:cNvSpPr/>
          <p:nvPr/>
        </p:nvSpPr>
        <p:spPr>
          <a:xfrm>
            <a:off x="457200" y="2999232"/>
            <a:ext cx="777240" cy="36576"/>
          </a:xfrm>
          <a:prstGeom prst="rect">
            <a:avLst/>
          </a:prstGeom>
          <a:solidFill>
            <a:srgbClr val="02C39A"/>
          </a:solidFill>
          <a:ln w="12700">
            <a:solidFill>
              <a:srgbClr val="02C39A"/>
            </a:solidFill>
            <a:prstDash val="solid"/>
          </a:ln>
        </p:spPr>
        <p:txBody>
          <a:bodyPr/>
          <a:lstStyle/>
          <a:p>
            <a:endParaRPr lang="en-BW"/>
          </a:p>
        </p:txBody>
      </p:sp>
      <p:sp>
        <p:nvSpPr>
          <p:cNvPr id="9" name="Text 7"/>
          <p:cNvSpPr/>
          <p:nvPr/>
        </p:nvSpPr>
        <p:spPr>
          <a:xfrm>
            <a:off x="457200" y="3127248"/>
            <a:ext cx="8229600" cy="228600"/>
          </a:xfrm>
          <a:prstGeom prst="rect">
            <a:avLst/>
          </a:prstGeom>
          <a:noFill/>
          <a:ln/>
        </p:spPr>
        <p:txBody>
          <a:bodyPr wrap="square" lIns="0" tIns="0" rIns="0" bIns="0"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GROUP 5 MEMBERS</a:t>
            </a:r>
            <a:endParaRPr lang="en-US" sz="900" dirty="0"/>
          </a:p>
        </p:txBody>
      </p:sp>
      <p:sp>
        <p:nvSpPr>
          <p:cNvPr id="10" name="Text 8"/>
          <p:cNvSpPr/>
          <p:nvPr/>
        </p:nvSpPr>
        <p:spPr>
          <a:xfrm>
            <a:off x="457200" y="3401568"/>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Kobamelo Caiphus · 21001023 · System Architect</a:t>
            </a:r>
            <a:endParaRPr lang="en-US" sz="1000" dirty="0"/>
          </a:p>
        </p:txBody>
      </p:sp>
      <p:sp>
        <p:nvSpPr>
          <p:cNvPr id="11" name="Text 9"/>
          <p:cNvSpPr/>
          <p:nvPr/>
        </p:nvSpPr>
        <p:spPr>
          <a:xfrm>
            <a:off x="4846320" y="3401568"/>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Karabo Matenge · 14000561 · Integration &amp; Testing Lead</a:t>
            </a:r>
            <a:endParaRPr lang="en-US" sz="1000" dirty="0"/>
          </a:p>
        </p:txBody>
      </p:sp>
      <p:sp>
        <p:nvSpPr>
          <p:cNvPr id="12" name="Text 10"/>
          <p:cNvSpPr/>
          <p:nvPr/>
        </p:nvSpPr>
        <p:spPr>
          <a:xfrm>
            <a:off x="457200" y="3749040"/>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Seetsele Peo Kgakole · 21000287 · Modulation Lead</a:t>
            </a:r>
            <a:endParaRPr lang="en-US" sz="1000" dirty="0"/>
          </a:p>
        </p:txBody>
      </p:sp>
      <p:sp>
        <p:nvSpPr>
          <p:cNvPr id="13" name="Text 11"/>
          <p:cNvSpPr/>
          <p:nvPr/>
        </p:nvSpPr>
        <p:spPr>
          <a:xfrm>
            <a:off x="4846320" y="3749040"/>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Wadza Seitibatso · 22001188 · Digital Telemetry Lead</a:t>
            </a:r>
            <a:endParaRPr lang="en-US" sz="1000" dirty="0"/>
          </a:p>
        </p:txBody>
      </p:sp>
      <p:sp>
        <p:nvSpPr>
          <p:cNvPr id="14" name="Text 12"/>
          <p:cNvSpPr/>
          <p:nvPr/>
        </p:nvSpPr>
        <p:spPr>
          <a:xfrm>
            <a:off x="457200" y="4096512"/>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Kamogelo Karen Ngwako · 21000284 · Monitoring Lead</a:t>
            </a:r>
            <a:endParaRPr lang="en-US" sz="1000" dirty="0"/>
          </a:p>
        </p:txBody>
      </p:sp>
      <p:sp>
        <p:nvSpPr>
          <p:cNvPr id="15" name="Text 13"/>
          <p:cNvSpPr/>
          <p:nvPr/>
        </p:nvSpPr>
        <p:spPr>
          <a:xfrm>
            <a:off x="4846320" y="4096512"/>
            <a:ext cx="4297680" cy="301752"/>
          </a:xfrm>
          <a:prstGeom prst="rect">
            <a:avLst/>
          </a:prstGeom>
          <a:noFill/>
          <a:ln/>
        </p:spPr>
        <p:txBody>
          <a:bodyPr wrap="square" lIns="0" tIns="0" rIns="0" bIns="0" rtlCol="0" anchor="ctr"/>
          <a:lstStyle/>
          <a:p>
            <a:pPr marL="0" indent="0">
              <a:buNone/>
            </a:pPr>
            <a:r>
              <a:rPr lang="en-US" sz="1000" dirty="0">
                <a:solidFill>
                  <a:srgbClr val="E2EDF5"/>
                </a:solidFill>
                <a:latin typeface="Calibri" pitchFamily="34" charset="0"/>
                <a:ea typeface="Calibri" pitchFamily="34" charset="-122"/>
                <a:cs typeface="Calibri" pitchFamily="34" charset="-120"/>
              </a:rPr>
              <a:t>Gorata Mandedu · 14000331 · Signal Processing Lead</a:t>
            </a:r>
            <a:endParaRPr lang="en-US" sz="1000" dirty="0"/>
          </a:p>
        </p:txBody>
      </p:sp>
      <p:sp>
        <p:nvSpPr>
          <p:cNvPr id="16" name="Text 14"/>
          <p:cNvSpPr/>
          <p:nvPr/>
        </p:nvSpPr>
        <p:spPr>
          <a:xfrm>
            <a:off x="457200" y="4736592"/>
            <a:ext cx="8229600" cy="237744"/>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Supervisors:  Prof. Abid Yahya  ·  Mr Robin Tau</a:t>
            </a:r>
            <a:endParaRPr lang="en-US" sz="900" dirty="0"/>
          </a:p>
        </p:txBody>
      </p:sp>
      <p:graphicFrame>
        <p:nvGraphicFramePr>
          <p:cNvPr id="18" name="Diagram 17">
            <a:extLst>
              <a:ext uri="{FF2B5EF4-FFF2-40B4-BE49-F238E27FC236}">
                <a16:creationId xmlns:a16="http://schemas.microsoft.com/office/drawing/2014/main" id="{6E31B6C3-8139-49BB-52FE-D9588E38F7D6}"/>
              </a:ext>
            </a:extLst>
          </p:cNvPr>
          <p:cNvGraphicFramePr/>
          <p:nvPr>
            <p:extLst>
              <p:ext uri="{D42A27DB-BD31-4B8C-83A1-F6EECF244321}">
                <p14:modId xmlns:p14="http://schemas.microsoft.com/office/powerpoint/2010/main" val="78778141"/>
              </p:ext>
            </p:extLst>
          </p:nvPr>
        </p:nvGraphicFramePr>
        <p:xfrm>
          <a:off x="6573520" y="-82296"/>
          <a:ext cx="2636121" cy="24358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0851768-4ED9-B9B9-EE8C-E797643627DD}"/>
              </a:ext>
            </a:extLst>
          </p:cNvPr>
          <p:cNvPicPr>
            <a:picLocks noChangeAspect="1"/>
          </p:cNvPicPr>
          <p:nvPr/>
        </p:nvPicPr>
        <p:blipFill>
          <a:blip r:embed="rId9"/>
          <a:stretch>
            <a:fillRect/>
          </a:stretch>
        </p:blipFill>
        <p:spPr>
          <a:xfrm>
            <a:off x="5931002" y="77724"/>
            <a:ext cx="3042715" cy="2788920"/>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530352" y="2082546"/>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Presentation Overview</a:t>
            </a:r>
            <a:endParaRPr lang="en-US" sz="3000" dirty="0"/>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
        <p:nvSpPr>
          <p:cNvPr id="6" name="Shape 3"/>
          <p:cNvSpPr/>
          <p:nvPr/>
        </p:nvSpPr>
        <p:spPr>
          <a:xfrm>
            <a:off x="4700016" y="104526"/>
            <a:ext cx="4114800" cy="390906"/>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p:cNvSpPr/>
          <p:nvPr/>
        </p:nvSpPr>
        <p:spPr>
          <a:xfrm>
            <a:off x="4700016" y="105156"/>
            <a:ext cx="475488" cy="384048"/>
          </a:xfrm>
          <a:prstGeom prst="rect">
            <a:avLst/>
          </a:prstGeom>
          <a:solidFill>
            <a:srgbClr val="065A82"/>
          </a:solidFill>
          <a:ln w="12700">
            <a:solidFill>
              <a:srgbClr val="065A82"/>
            </a:solidFill>
            <a:prstDash val="solid"/>
          </a:ln>
        </p:spPr>
        <p:txBody>
          <a:bodyPr/>
          <a:lstStyle/>
          <a:p>
            <a:endParaRPr lang="en-BW"/>
          </a:p>
        </p:txBody>
      </p:sp>
      <p:sp>
        <p:nvSpPr>
          <p:cNvPr id="8" name="Text 5"/>
          <p:cNvSpPr/>
          <p:nvPr/>
        </p:nvSpPr>
        <p:spPr>
          <a:xfrm>
            <a:off x="4700016" y="105156"/>
            <a:ext cx="475488" cy="390276"/>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01</a:t>
            </a:r>
            <a:endParaRPr lang="en-US" sz="1000" dirty="0"/>
          </a:p>
        </p:txBody>
      </p:sp>
      <p:sp>
        <p:nvSpPr>
          <p:cNvPr id="9" name="Text 6"/>
          <p:cNvSpPr/>
          <p:nvPr/>
        </p:nvSpPr>
        <p:spPr>
          <a:xfrm>
            <a:off x="5221224" y="160020"/>
            <a:ext cx="3474720" cy="2743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Introduction &amp; Problem Statement</a:t>
            </a:r>
            <a:endParaRPr lang="en-US" sz="1200" dirty="0"/>
          </a:p>
        </p:txBody>
      </p:sp>
      <p:sp>
        <p:nvSpPr>
          <p:cNvPr id="10" name="Shape 7"/>
          <p:cNvSpPr/>
          <p:nvPr/>
        </p:nvSpPr>
        <p:spPr>
          <a:xfrm>
            <a:off x="4672584" y="1216469"/>
            <a:ext cx="4114800" cy="36292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1" name="Shape 8"/>
          <p:cNvSpPr/>
          <p:nvPr/>
        </p:nvSpPr>
        <p:spPr>
          <a:xfrm>
            <a:off x="4672584" y="1216469"/>
            <a:ext cx="475488" cy="361818"/>
          </a:xfrm>
          <a:prstGeom prst="rect">
            <a:avLst/>
          </a:prstGeom>
          <a:solidFill>
            <a:srgbClr val="065A82"/>
          </a:solidFill>
          <a:ln w="12700">
            <a:solidFill>
              <a:srgbClr val="065A82"/>
            </a:solidFill>
            <a:prstDash val="solid"/>
          </a:ln>
        </p:spPr>
        <p:txBody>
          <a:bodyPr/>
          <a:lstStyle/>
          <a:p>
            <a:endParaRPr lang="en-BW"/>
          </a:p>
        </p:txBody>
      </p:sp>
      <p:sp>
        <p:nvSpPr>
          <p:cNvPr id="12" name="Text 9"/>
          <p:cNvSpPr/>
          <p:nvPr/>
        </p:nvSpPr>
        <p:spPr>
          <a:xfrm>
            <a:off x="4672584" y="1247331"/>
            <a:ext cx="475488" cy="2743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02</a:t>
            </a:r>
            <a:endParaRPr lang="en-US" sz="1000" dirty="0"/>
          </a:p>
        </p:txBody>
      </p:sp>
      <p:sp>
        <p:nvSpPr>
          <p:cNvPr id="13" name="Text 10"/>
          <p:cNvSpPr/>
          <p:nvPr/>
        </p:nvSpPr>
        <p:spPr>
          <a:xfrm>
            <a:off x="5221224" y="1256475"/>
            <a:ext cx="3474720" cy="2743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System Architecture</a:t>
            </a:r>
            <a:endParaRPr lang="en-US" sz="1200" dirty="0"/>
          </a:p>
        </p:txBody>
      </p:sp>
      <p:sp>
        <p:nvSpPr>
          <p:cNvPr id="14" name="Shape 11"/>
          <p:cNvSpPr/>
          <p:nvPr/>
        </p:nvSpPr>
        <p:spPr>
          <a:xfrm>
            <a:off x="4672584" y="1761365"/>
            <a:ext cx="4114800" cy="40005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5" name="Shape 12"/>
          <p:cNvSpPr/>
          <p:nvPr/>
        </p:nvSpPr>
        <p:spPr>
          <a:xfrm>
            <a:off x="4672584" y="1768223"/>
            <a:ext cx="475488" cy="384048"/>
          </a:xfrm>
          <a:prstGeom prst="rect">
            <a:avLst/>
          </a:prstGeom>
          <a:solidFill>
            <a:srgbClr val="065A82"/>
          </a:solidFill>
          <a:ln w="12700">
            <a:solidFill>
              <a:srgbClr val="065A82"/>
            </a:solidFill>
            <a:prstDash val="solid"/>
          </a:ln>
        </p:spPr>
        <p:txBody>
          <a:bodyPr/>
          <a:lstStyle/>
          <a:p>
            <a:endParaRPr lang="en-BW"/>
          </a:p>
        </p:txBody>
      </p:sp>
      <p:sp>
        <p:nvSpPr>
          <p:cNvPr id="16" name="Text 13"/>
          <p:cNvSpPr/>
          <p:nvPr/>
        </p:nvSpPr>
        <p:spPr>
          <a:xfrm>
            <a:off x="4672584" y="1761365"/>
            <a:ext cx="475488" cy="390906"/>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03</a:t>
            </a:r>
            <a:endParaRPr lang="en-US" sz="1000" dirty="0"/>
          </a:p>
        </p:txBody>
      </p:sp>
      <p:sp>
        <p:nvSpPr>
          <p:cNvPr id="17" name="Text 14"/>
          <p:cNvSpPr/>
          <p:nvPr/>
        </p:nvSpPr>
        <p:spPr>
          <a:xfrm>
            <a:off x="5221224" y="1772795"/>
            <a:ext cx="3474720" cy="3886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Signal Processing &amp; Telemetry Design</a:t>
            </a:r>
            <a:endParaRPr lang="en-US" sz="1200" dirty="0"/>
          </a:p>
        </p:txBody>
      </p:sp>
      <p:sp>
        <p:nvSpPr>
          <p:cNvPr id="18" name="Shape 15"/>
          <p:cNvSpPr/>
          <p:nvPr/>
        </p:nvSpPr>
        <p:spPr>
          <a:xfrm>
            <a:off x="4672584" y="2329396"/>
            <a:ext cx="4114800" cy="393192"/>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9" name="Shape 16"/>
          <p:cNvSpPr/>
          <p:nvPr/>
        </p:nvSpPr>
        <p:spPr>
          <a:xfrm>
            <a:off x="4672584" y="2324824"/>
            <a:ext cx="475488" cy="397764"/>
          </a:xfrm>
          <a:prstGeom prst="rect">
            <a:avLst/>
          </a:prstGeom>
          <a:solidFill>
            <a:srgbClr val="065A82"/>
          </a:solidFill>
          <a:ln w="12700">
            <a:solidFill>
              <a:srgbClr val="065A82"/>
            </a:solidFill>
            <a:prstDash val="solid"/>
          </a:ln>
        </p:spPr>
        <p:txBody>
          <a:bodyPr/>
          <a:lstStyle/>
          <a:p>
            <a:endParaRPr lang="en-BW"/>
          </a:p>
        </p:txBody>
      </p:sp>
      <p:sp>
        <p:nvSpPr>
          <p:cNvPr id="20" name="Text 17"/>
          <p:cNvSpPr/>
          <p:nvPr/>
        </p:nvSpPr>
        <p:spPr>
          <a:xfrm>
            <a:off x="4672584" y="2336254"/>
            <a:ext cx="475488" cy="372618"/>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04</a:t>
            </a:r>
            <a:endParaRPr lang="en-US" sz="1000" dirty="0"/>
          </a:p>
        </p:txBody>
      </p:sp>
      <p:sp>
        <p:nvSpPr>
          <p:cNvPr id="21" name="Text 18"/>
          <p:cNvSpPr/>
          <p:nvPr/>
        </p:nvSpPr>
        <p:spPr>
          <a:xfrm>
            <a:off x="5221224" y="2324824"/>
            <a:ext cx="3474720" cy="393192"/>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Communication Channel Analysis</a:t>
            </a:r>
            <a:endParaRPr lang="en-US" sz="1200" dirty="0"/>
          </a:p>
        </p:txBody>
      </p:sp>
      <p:sp>
        <p:nvSpPr>
          <p:cNvPr id="22" name="Shape 19"/>
          <p:cNvSpPr/>
          <p:nvPr/>
        </p:nvSpPr>
        <p:spPr>
          <a:xfrm>
            <a:off x="4672584" y="2921468"/>
            <a:ext cx="4114800" cy="386334"/>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23" name="Shape 20"/>
          <p:cNvSpPr/>
          <p:nvPr/>
        </p:nvSpPr>
        <p:spPr>
          <a:xfrm>
            <a:off x="4672584" y="2914610"/>
            <a:ext cx="475488" cy="393192"/>
          </a:xfrm>
          <a:prstGeom prst="rect">
            <a:avLst/>
          </a:prstGeom>
          <a:solidFill>
            <a:srgbClr val="065A82"/>
          </a:solidFill>
          <a:ln w="12700">
            <a:solidFill>
              <a:srgbClr val="065A82"/>
            </a:solidFill>
            <a:prstDash val="solid"/>
          </a:ln>
        </p:spPr>
        <p:txBody>
          <a:bodyPr/>
          <a:lstStyle/>
          <a:p>
            <a:endParaRPr lang="en-BW"/>
          </a:p>
        </p:txBody>
      </p:sp>
      <p:sp>
        <p:nvSpPr>
          <p:cNvPr id="24" name="Text 21"/>
          <p:cNvSpPr/>
          <p:nvPr/>
        </p:nvSpPr>
        <p:spPr>
          <a:xfrm>
            <a:off x="4672584" y="2902038"/>
            <a:ext cx="475488" cy="3966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05</a:t>
            </a:r>
            <a:endParaRPr lang="en-US" sz="1000" dirty="0"/>
          </a:p>
        </p:txBody>
      </p:sp>
      <p:sp>
        <p:nvSpPr>
          <p:cNvPr id="25" name="Text 22"/>
          <p:cNvSpPr/>
          <p:nvPr/>
        </p:nvSpPr>
        <p:spPr>
          <a:xfrm>
            <a:off x="5221224" y="2921468"/>
            <a:ext cx="3474720" cy="386334"/>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Signal Recovery</a:t>
            </a:r>
            <a:endParaRPr lang="en-US" sz="1200" dirty="0"/>
          </a:p>
        </p:txBody>
      </p:sp>
      <p:sp>
        <p:nvSpPr>
          <p:cNvPr id="26" name="Shape 23"/>
          <p:cNvSpPr/>
          <p:nvPr/>
        </p:nvSpPr>
        <p:spPr>
          <a:xfrm>
            <a:off x="4700016" y="3506685"/>
            <a:ext cx="4114800" cy="357759"/>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27" name="Shape 24"/>
          <p:cNvSpPr/>
          <p:nvPr/>
        </p:nvSpPr>
        <p:spPr>
          <a:xfrm>
            <a:off x="4672584" y="3506685"/>
            <a:ext cx="475488" cy="365759"/>
          </a:xfrm>
          <a:prstGeom prst="rect">
            <a:avLst/>
          </a:prstGeom>
          <a:solidFill>
            <a:srgbClr val="065A82"/>
          </a:solidFill>
          <a:ln w="12700">
            <a:solidFill>
              <a:srgbClr val="065A82"/>
            </a:solidFill>
            <a:prstDash val="solid"/>
          </a:ln>
        </p:spPr>
        <p:txBody>
          <a:bodyPr/>
          <a:lstStyle/>
          <a:p>
            <a:endParaRPr lang="en-BW"/>
          </a:p>
        </p:txBody>
      </p:sp>
      <p:sp>
        <p:nvSpPr>
          <p:cNvPr id="28" name="Text 25"/>
          <p:cNvSpPr/>
          <p:nvPr/>
        </p:nvSpPr>
        <p:spPr>
          <a:xfrm>
            <a:off x="4672584" y="3552405"/>
            <a:ext cx="475488" cy="2743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06</a:t>
            </a:r>
            <a:endParaRPr lang="en-US" sz="1000" dirty="0"/>
          </a:p>
        </p:txBody>
      </p:sp>
      <p:sp>
        <p:nvSpPr>
          <p:cNvPr id="29" name="Text 26"/>
          <p:cNvSpPr/>
          <p:nvPr/>
        </p:nvSpPr>
        <p:spPr>
          <a:xfrm>
            <a:off x="5221224" y="3561549"/>
            <a:ext cx="3474720" cy="2743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Monitoring &amp; Alert System</a:t>
            </a:r>
            <a:endParaRPr lang="en-US" sz="1200" dirty="0"/>
          </a:p>
        </p:txBody>
      </p:sp>
      <p:sp>
        <p:nvSpPr>
          <p:cNvPr id="30" name="Shape 27"/>
          <p:cNvSpPr/>
          <p:nvPr/>
        </p:nvSpPr>
        <p:spPr>
          <a:xfrm>
            <a:off x="4700016" y="4042752"/>
            <a:ext cx="4114800" cy="36576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31" name="Shape 28"/>
          <p:cNvSpPr/>
          <p:nvPr/>
        </p:nvSpPr>
        <p:spPr>
          <a:xfrm>
            <a:off x="4672584" y="4042752"/>
            <a:ext cx="475488" cy="365760"/>
          </a:xfrm>
          <a:prstGeom prst="rect">
            <a:avLst/>
          </a:prstGeom>
          <a:solidFill>
            <a:srgbClr val="065A82"/>
          </a:solidFill>
          <a:ln w="12700">
            <a:solidFill>
              <a:srgbClr val="065A82"/>
            </a:solidFill>
            <a:prstDash val="solid"/>
          </a:ln>
        </p:spPr>
        <p:txBody>
          <a:bodyPr/>
          <a:lstStyle/>
          <a:p>
            <a:endParaRPr lang="en-BW"/>
          </a:p>
        </p:txBody>
      </p:sp>
      <p:sp>
        <p:nvSpPr>
          <p:cNvPr id="32" name="Text 29"/>
          <p:cNvSpPr/>
          <p:nvPr/>
        </p:nvSpPr>
        <p:spPr>
          <a:xfrm>
            <a:off x="4672584" y="4042752"/>
            <a:ext cx="475488" cy="2743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07</a:t>
            </a:r>
            <a:endParaRPr lang="en-US" sz="1000" dirty="0"/>
          </a:p>
        </p:txBody>
      </p:sp>
      <p:sp>
        <p:nvSpPr>
          <p:cNvPr id="33" name="Text 30"/>
          <p:cNvSpPr/>
          <p:nvPr/>
        </p:nvSpPr>
        <p:spPr>
          <a:xfrm>
            <a:off x="5221224" y="4051895"/>
            <a:ext cx="3474720" cy="345187"/>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System Demonstration</a:t>
            </a:r>
            <a:endParaRPr lang="en-US" sz="1200" dirty="0"/>
          </a:p>
        </p:txBody>
      </p:sp>
      <p:sp>
        <p:nvSpPr>
          <p:cNvPr id="35" name="Shape 27">
            <a:extLst>
              <a:ext uri="{FF2B5EF4-FFF2-40B4-BE49-F238E27FC236}">
                <a16:creationId xmlns:a16="http://schemas.microsoft.com/office/drawing/2014/main" id="{A8DAD43A-BA34-3CBC-845B-CACF98C3D2E8}"/>
              </a:ext>
            </a:extLst>
          </p:cNvPr>
          <p:cNvSpPr/>
          <p:nvPr/>
        </p:nvSpPr>
        <p:spPr>
          <a:xfrm>
            <a:off x="4700016" y="4563961"/>
            <a:ext cx="4114800" cy="331431"/>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36" name="Shape 28">
            <a:extLst>
              <a:ext uri="{FF2B5EF4-FFF2-40B4-BE49-F238E27FC236}">
                <a16:creationId xmlns:a16="http://schemas.microsoft.com/office/drawing/2014/main" id="{6D32800B-65E8-A301-E2DD-B835283CACE9}"/>
              </a:ext>
            </a:extLst>
          </p:cNvPr>
          <p:cNvSpPr/>
          <p:nvPr/>
        </p:nvSpPr>
        <p:spPr>
          <a:xfrm>
            <a:off x="4672584" y="4563961"/>
            <a:ext cx="475488" cy="331431"/>
          </a:xfrm>
          <a:prstGeom prst="rect">
            <a:avLst/>
          </a:prstGeom>
          <a:solidFill>
            <a:srgbClr val="065A82"/>
          </a:solidFill>
          <a:ln w="12700">
            <a:solidFill>
              <a:srgbClr val="065A82"/>
            </a:solidFill>
            <a:prstDash val="solid"/>
          </a:ln>
        </p:spPr>
        <p:txBody>
          <a:bodyPr/>
          <a:lstStyle/>
          <a:p>
            <a:endParaRPr lang="en-BW"/>
          </a:p>
        </p:txBody>
      </p:sp>
      <p:sp>
        <p:nvSpPr>
          <p:cNvPr id="37" name="Text 29">
            <a:extLst>
              <a:ext uri="{FF2B5EF4-FFF2-40B4-BE49-F238E27FC236}">
                <a16:creationId xmlns:a16="http://schemas.microsoft.com/office/drawing/2014/main" id="{97B54BEE-E885-32B3-AD2B-384566BF1FF5}"/>
              </a:ext>
            </a:extLst>
          </p:cNvPr>
          <p:cNvSpPr/>
          <p:nvPr/>
        </p:nvSpPr>
        <p:spPr>
          <a:xfrm>
            <a:off x="4672584" y="4563961"/>
            <a:ext cx="475488" cy="2743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08</a:t>
            </a:r>
            <a:endParaRPr lang="en-US" sz="1000" dirty="0"/>
          </a:p>
        </p:txBody>
      </p:sp>
      <p:sp>
        <p:nvSpPr>
          <p:cNvPr id="38" name="Text 30">
            <a:extLst>
              <a:ext uri="{FF2B5EF4-FFF2-40B4-BE49-F238E27FC236}">
                <a16:creationId xmlns:a16="http://schemas.microsoft.com/office/drawing/2014/main" id="{85F14A07-2EBA-4D95-7BCB-2EE16AAD19BC}"/>
              </a:ext>
            </a:extLst>
          </p:cNvPr>
          <p:cNvSpPr/>
          <p:nvPr/>
        </p:nvSpPr>
        <p:spPr>
          <a:xfrm>
            <a:off x="5221224" y="4573105"/>
            <a:ext cx="3474720" cy="2743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Results, Analysis &amp; Discussion</a:t>
            </a:r>
            <a:endParaRPr lang="en-US" sz="1200" dirty="0"/>
          </a:p>
        </p:txBody>
      </p:sp>
      <p:sp>
        <p:nvSpPr>
          <p:cNvPr id="3" name="Shape 3">
            <a:extLst>
              <a:ext uri="{FF2B5EF4-FFF2-40B4-BE49-F238E27FC236}">
                <a16:creationId xmlns:a16="http://schemas.microsoft.com/office/drawing/2014/main" id="{9AEFED29-EDB4-D3A2-38EA-964943C4D278}"/>
              </a:ext>
            </a:extLst>
          </p:cNvPr>
          <p:cNvSpPr/>
          <p:nvPr/>
        </p:nvSpPr>
        <p:spPr>
          <a:xfrm>
            <a:off x="4700016" y="648909"/>
            <a:ext cx="4114800" cy="37719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dirty="0"/>
          </a:p>
        </p:txBody>
      </p:sp>
      <p:sp>
        <p:nvSpPr>
          <p:cNvPr id="5" name="Shape 4">
            <a:extLst>
              <a:ext uri="{FF2B5EF4-FFF2-40B4-BE49-F238E27FC236}">
                <a16:creationId xmlns:a16="http://schemas.microsoft.com/office/drawing/2014/main" id="{2716E0F8-0991-1241-A82C-DBB2F6735B0B}"/>
              </a:ext>
            </a:extLst>
          </p:cNvPr>
          <p:cNvSpPr/>
          <p:nvPr/>
        </p:nvSpPr>
        <p:spPr>
          <a:xfrm>
            <a:off x="4700016" y="660852"/>
            <a:ext cx="475488" cy="361818"/>
          </a:xfrm>
          <a:prstGeom prst="rect">
            <a:avLst/>
          </a:prstGeom>
          <a:solidFill>
            <a:srgbClr val="065A82"/>
          </a:solidFill>
          <a:ln w="12700">
            <a:solidFill>
              <a:srgbClr val="065A82"/>
            </a:solidFill>
            <a:prstDash val="solid"/>
          </a:ln>
        </p:spPr>
        <p:txBody>
          <a:bodyPr/>
          <a:lstStyle/>
          <a:p>
            <a:endParaRPr lang="en-BW"/>
          </a:p>
        </p:txBody>
      </p:sp>
      <p:sp>
        <p:nvSpPr>
          <p:cNvPr id="34" name="Text 5">
            <a:extLst>
              <a:ext uri="{FF2B5EF4-FFF2-40B4-BE49-F238E27FC236}">
                <a16:creationId xmlns:a16="http://schemas.microsoft.com/office/drawing/2014/main" id="{F87BB51A-3062-690E-C374-485823E159AB}"/>
              </a:ext>
            </a:extLst>
          </p:cNvPr>
          <p:cNvSpPr/>
          <p:nvPr/>
        </p:nvSpPr>
        <p:spPr>
          <a:xfrm>
            <a:off x="4700016" y="704601"/>
            <a:ext cx="475488" cy="274320"/>
          </a:xfrm>
          <a:prstGeom prst="rect">
            <a:avLst/>
          </a:prstGeom>
          <a:noFill/>
          <a:ln/>
        </p:spPr>
        <p:txBody>
          <a:bodyPr wrap="square" lIns="0" tIns="0" rIns="0" bIns="0" rtlCol="0" anchor="ctr"/>
          <a:lstStyle/>
          <a:p>
            <a:pPr marL="0" indent="0" algn="ctr">
              <a:buNone/>
            </a:pPr>
            <a:r>
              <a:rPr lang="en-US" sz="1000" b="1" dirty="0">
                <a:solidFill>
                  <a:srgbClr val="02C39A"/>
                </a:solidFill>
                <a:latin typeface="Calibri" pitchFamily="34" charset="0"/>
                <a:ea typeface="Calibri" pitchFamily="34" charset="-122"/>
                <a:cs typeface="Calibri" pitchFamily="34" charset="-120"/>
              </a:rPr>
              <a:t>02</a:t>
            </a:r>
            <a:endParaRPr lang="en-US" sz="1000" dirty="0"/>
          </a:p>
        </p:txBody>
      </p:sp>
      <p:sp>
        <p:nvSpPr>
          <p:cNvPr id="39" name="Text 6">
            <a:extLst>
              <a:ext uri="{FF2B5EF4-FFF2-40B4-BE49-F238E27FC236}">
                <a16:creationId xmlns:a16="http://schemas.microsoft.com/office/drawing/2014/main" id="{386224A7-8994-CDBF-26DE-9A916B99C4C5}"/>
              </a:ext>
            </a:extLst>
          </p:cNvPr>
          <p:cNvSpPr/>
          <p:nvPr/>
        </p:nvSpPr>
        <p:spPr>
          <a:xfrm>
            <a:off x="5244084" y="721431"/>
            <a:ext cx="3474720" cy="274320"/>
          </a:xfrm>
          <a:prstGeom prst="rect">
            <a:avLst/>
          </a:prstGeom>
          <a:noFill/>
          <a:ln/>
        </p:spPr>
        <p:txBody>
          <a:bodyPr wrap="square" lIns="0" tIns="0" rIns="0" bIns="0"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Literature Review &amp; Research Gap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Introduction — Why Water Quality Matters</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384048" y="813816"/>
            <a:ext cx="2743200" cy="1301877"/>
          </a:xfrm>
          <a:prstGeom prst="rect">
            <a:avLst/>
          </a:prstGeom>
          <a:solidFill>
            <a:srgbClr val="065A82"/>
          </a:solidFill>
          <a:ln w="12700">
            <a:solidFill>
              <a:srgbClr val="065A82"/>
            </a:solidFill>
            <a:prstDash val="solid"/>
          </a:ln>
          <a:effectLst>
            <a:outerShdw blurRad="63500" dist="25400" dir="8100000" algn="bl" rotWithShape="0">
              <a:srgbClr val="000000">
                <a:alpha val="10000"/>
              </a:srgbClr>
            </a:outerShdw>
          </a:effectLst>
        </p:spPr>
        <p:txBody>
          <a:bodyPr/>
          <a:lstStyle/>
          <a:p>
            <a:endParaRPr lang="en-BW"/>
          </a:p>
        </p:txBody>
      </p:sp>
      <p:sp>
        <p:nvSpPr>
          <p:cNvPr id="6" name="Text 4"/>
          <p:cNvSpPr/>
          <p:nvPr/>
        </p:nvSpPr>
        <p:spPr>
          <a:xfrm>
            <a:off x="384048" y="877824"/>
            <a:ext cx="2743200" cy="443484"/>
          </a:xfrm>
          <a:prstGeom prst="rect">
            <a:avLst/>
          </a:prstGeom>
          <a:noFill/>
          <a:ln/>
        </p:spPr>
        <p:txBody>
          <a:bodyPr wrap="square" lIns="0" tIns="0" rIns="0" bIns="0" rtlCol="0" anchor="ctr"/>
          <a:lstStyle/>
          <a:p>
            <a:pPr marL="0" indent="0" algn="ctr">
              <a:buNone/>
            </a:pPr>
            <a:r>
              <a:rPr lang="en-US" sz="3800" b="1" dirty="0">
                <a:solidFill>
                  <a:srgbClr val="02C39A"/>
                </a:solidFill>
                <a:latin typeface="Calibri" pitchFamily="34" charset="0"/>
                <a:ea typeface="Calibri" pitchFamily="34" charset="-122"/>
                <a:cs typeface="Calibri" pitchFamily="34" charset="-120"/>
              </a:rPr>
              <a:t>2B</a:t>
            </a:r>
            <a:endParaRPr lang="en-US" sz="3800" dirty="0"/>
          </a:p>
        </p:txBody>
      </p:sp>
      <p:sp>
        <p:nvSpPr>
          <p:cNvPr id="7" name="Text 5"/>
          <p:cNvSpPr/>
          <p:nvPr/>
        </p:nvSpPr>
        <p:spPr>
          <a:xfrm>
            <a:off x="384048" y="1348740"/>
            <a:ext cx="274320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People drinking</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contaminated water</a:t>
            </a:r>
            <a:endParaRPr lang="en-US" sz="1200" dirty="0"/>
          </a:p>
        </p:txBody>
      </p:sp>
      <p:sp>
        <p:nvSpPr>
          <p:cNvPr id="8" name="Text 6"/>
          <p:cNvSpPr/>
          <p:nvPr/>
        </p:nvSpPr>
        <p:spPr>
          <a:xfrm>
            <a:off x="393192" y="1796796"/>
            <a:ext cx="2743200" cy="256032"/>
          </a:xfrm>
          <a:prstGeom prst="rect">
            <a:avLst/>
          </a:prstGeom>
          <a:noFill/>
          <a:ln/>
        </p:spPr>
        <p:txBody>
          <a:bodyPr wrap="square" lIns="0" tIns="0" rIns="0" bIns="0" rtlCol="0" anchor="ctr"/>
          <a:lstStyle/>
          <a:p>
            <a:pPr marL="0" indent="0" algn="ctr">
              <a:buNone/>
            </a:pPr>
            <a:r>
              <a:rPr lang="en-US" sz="900" i="1" dirty="0">
                <a:solidFill>
                  <a:srgbClr val="E2EDF5"/>
                </a:solidFill>
                <a:latin typeface="Calibri" pitchFamily="34" charset="0"/>
                <a:ea typeface="Calibri" pitchFamily="34" charset="-122"/>
                <a:cs typeface="Calibri" pitchFamily="34" charset="-120"/>
              </a:rPr>
              <a:t>WHO, 2023</a:t>
            </a:r>
            <a:endParaRPr lang="en-US" sz="900" dirty="0"/>
          </a:p>
        </p:txBody>
      </p:sp>
      <p:sp>
        <p:nvSpPr>
          <p:cNvPr id="9" name="Shape 7"/>
          <p:cNvSpPr/>
          <p:nvPr/>
        </p:nvSpPr>
        <p:spPr>
          <a:xfrm>
            <a:off x="393192" y="2312289"/>
            <a:ext cx="2743200" cy="1301877"/>
          </a:xfrm>
          <a:prstGeom prst="rect">
            <a:avLst/>
          </a:prstGeom>
          <a:solidFill>
            <a:srgbClr val="1C7293"/>
          </a:solidFill>
          <a:ln w="12700">
            <a:solidFill>
              <a:srgbClr val="1C7293"/>
            </a:solidFill>
            <a:prstDash val="solid"/>
          </a:ln>
          <a:effectLst>
            <a:outerShdw blurRad="63500" dist="25400" dir="8100000" algn="bl" rotWithShape="0">
              <a:srgbClr val="000000">
                <a:alpha val="10000"/>
              </a:srgbClr>
            </a:outerShdw>
          </a:effectLst>
        </p:spPr>
        <p:txBody>
          <a:bodyPr/>
          <a:lstStyle/>
          <a:p>
            <a:endParaRPr lang="en-BW"/>
          </a:p>
        </p:txBody>
      </p:sp>
      <p:sp>
        <p:nvSpPr>
          <p:cNvPr id="10" name="Text 8"/>
          <p:cNvSpPr/>
          <p:nvPr/>
        </p:nvSpPr>
        <p:spPr>
          <a:xfrm>
            <a:off x="438912" y="2401443"/>
            <a:ext cx="2743200" cy="478917"/>
          </a:xfrm>
          <a:prstGeom prst="rect">
            <a:avLst/>
          </a:prstGeom>
          <a:noFill/>
          <a:ln/>
        </p:spPr>
        <p:txBody>
          <a:bodyPr wrap="square" lIns="0" tIns="0" rIns="0" bIns="0" rtlCol="0" anchor="ctr"/>
          <a:lstStyle/>
          <a:p>
            <a:pPr marL="0" indent="0" algn="ctr">
              <a:buNone/>
            </a:pPr>
            <a:r>
              <a:rPr lang="en-US" sz="3800" b="1" dirty="0">
                <a:solidFill>
                  <a:srgbClr val="02C39A"/>
                </a:solidFill>
                <a:latin typeface="Calibri" pitchFamily="34" charset="0"/>
                <a:ea typeface="Calibri" pitchFamily="34" charset="-122"/>
                <a:cs typeface="Calibri" pitchFamily="34" charset="-120"/>
              </a:rPr>
              <a:t>1.4M</a:t>
            </a:r>
            <a:endParaRPr lang="en-US" sz="3800" dirty="0"/>
          </a:p>
        </p:txBody>
      </p:sp>
      <p:sp>
        <p:nvSpPr>
          <p:cNvPr id="11" name="Text 9"/>
          <p:cNvSpPr/>
          <p:nvPr/>
        </p:nvSpPr>
        <p:spPr>
          <a:xfrm>
            <a:off x="393192" y="2903220"/>
            <a:ext cx="274320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Preventable child</a:t>
            </a:r>
            <a:r>
              <a:rPr lang="en-US" sz="1200" dirty="0"/>
              <a:t> </a:t>
            </a:r>
            <a:r>
              <a:rPr lang="en-US" sz="1200" dirty="0">
                <a:solidFill>
                  <a:srgbClr val="FFFFFF"/>
                </a:solidFill>
                <a:latin typeface="Calibri" pitchFamily="34" charset="0"/>
                <a:ea typeface="Calibri" pitchFamily="34" charset="-122"/>
                <a:cs typeface="Calibri" pitchFamily="34" charset="-120"/>
              </a:rPr>
              <a:t>deaths annually</a:t>
            </a:r>
            <a:endParaRPr lang="en-US" sz="1200" dirty="0"/>
          </a:p>
        </p:txBody>
      </p:sp>
      <p:sp>
        <p:nvSpPr>
          <p:cNvPr id="12" name="Text 10"/>
          <p:cNvSpPr/>
          <p:nvPr/>
        </p:nvSpPr>
        <p:spPr>
          <a:xfrm>
            <a:off x="384048" y="3292602"/>
            <a:ext cx="2743200" cy="256032"/>
          </a:xfrm>
          <a:prstGeom prst="rect">
            <a:avLst/>
          </a:prstGeom>
          <a:noFill/>
          <a:ln/>
        </p:spPr>
        <p:txBody>
          <a:bodyPr wrap="square" lIns="0" tIns="0" rIns="0" bIns="0" rtlCol="0" anchor="ctr"/>
          <a:lstStyle/>
          <a:p>
            <a:pPr marL="0" indent="0" algn="ctr">
              <a:buNone/>
            </a:pPr>
            <a:r>
              <a:rPr lang="en-US" sz="900" i="1" dirty="0">
                <a:solidFill>
                  <a:srgbClr val="E2EDF5"/>
                </a:solidFill>
                <a:latin typeface="Calibri" pitchFamily="34" charset="0"/>
                <a:ea typeface="Calibri" pitchFamily="34" charset="-122"/>
                <a:cs typeface="Calibri" pitchFamily="34" charset="-120"/>
              </a:rPr>
              <a:t>low-income countries</a:t>
            </a:r>
            <a:endParaRPr lang="en-US" sz="900" dirty="0"/>
          </a:p>
        </p:txBody>
      </p:sp>
      <p:sp>
        <p:nvSpPr>
          <p:cNvPr id="13" name="Shape 11"/>
          <p:cNvSpPr/>
          <p:nvPr/>
        </p:nvSpPr>
        <p:spPr>
          <a:xfrm>
            <a:off x="393192" y="3778758"/>
            <a:ext cx="2743200" cy="1268349"/>
          </a:xfrm>
          <a:prstGeom prst="rect">
            <a:avLst/>
          </a:prstGeom>
          <a:solidFill>
            <a:srgbClr val="1E3A5F"/>
          </a:solidFill>
          <a:ln w="12700">
            <a:solidFill>
              <a:srgbClr val="1E3A5F"/>
            </a:solidFill>
            <a:prstDash val="solid"/>
          </a:ln>
          <a:effectLst>
            <a:outerShdw blurRad="63500" dist="25400" dir="8100000" algn="bl" rotWithShape="0">
              <a:srgbClr val="000000">
                <a:alpha val="10000"/>
              </a:srgbClr>
            </a:outerShdw>
          </a:effectLst>
        </p:spPr>
        <p:txBody>
          <a:bodyPr/>
          <a:lstStyle/>
          <a:p>
            <a:endParaRPr lang="en-BW"/>
          </a:p>
        </p:txBody>
      </p:sp>
      <p:sp>
        <p:nvSpPr>
          <p:cNvPr id="14" name="Text 12"/>
          <p:cNvSpPr/>
          <p:nvPr/>
        </p:nvSpPr>
        <p:spPr>
          <a:xfrm>
            <a:off x="393192" y="3851910"/>
            <a:ext cx="2743200" cy="676656"/>
          </a:xfrm>
          <a:prstGeom prst="rect">
            <a:avLst/>
          </a:prstGeom>
          <a:noFill/>
          <a:ln/>
        </p:spPr>
        <p:txBody>
          <a:bodyPr wrap="square" lIns="0" tIns="0" rIns="0" bIns="0" rtlCol="0" anchor="ctr"/>
          <a:lstStyle/>
          <a:p>
            <a:pPr marL="0" indent="0" algn="ctr">
              <a:buNone/>
            </a:pPr>
            <a:r>
              <a:rPr lang="en-US" sz="3800" b="1" dirty="0">
                <a:solidFill>
                  <a:srgbClr val="02C39A"/>
                </a:solidFill>
                <a:latin typeface="Calibri" pitchFamily="34" charset="0"/>
                <a:ea typeface="Calibri" pitchFamily="34" charset="-122"/>
                <a:cs typeface="Calibri" pitchFamily="34" charset="-120"/>
              </a:rPr>
              <a:t>98K+</a:t>
            </a:r>
            <a:endParaRPr lang="en-US" sz="3800" dirty="0"/>
          </a:p>
        </p:txBody>
      </p:sp>
      <p:sp>
        <p:nvSpPr>
          <p:cNvPr id="15" name="Text 13"/>
          <p:cNvSpPr/>
          <p:nvPr/>
        </p:nvSpPr>
        <p:spPr>
          <a:xfrm>
            <a:off x="393192" y="4389120"/>
            <a:ext cx="2743200"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Infected in the</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2008 Zimbabwe outbreak</a:t>
            </a:r>
            <a:endParaRPr lang="en-US" sz="1200" dirty="0"/>
          </a:p>
        </p:txBody>
      </p:sp>
      <p:sp>
        <p:nvSpPr>
          <p:cNvPr id="16" name="Text 14"/>
          <p:cNvSpPr/>
          <p:nvPr/>
        </p:nvSpPr>
        <p:spPr>
          <a:xfrm>
            <a:off x="384048" y="4791075"/>
            <a:ext cx="2743200" cy="256032"/>
          </a:xfrm>
          <a:prstGeom prst="rect">
            <a:avLst/>
          </a:prstGeom>
          <a:noFill/>
          <a:ln/>
        </p:spPr>
        <p:txBody>
          <a:bodyPr wrap="square" lIns="0" tIns="0" rIns="0" bIns="0" rtlCol="0" anchor="ctr"/>
          <a:lstStyle/>
          <a:p>
            <a:pPr marL="0" indent="0" algn="ctr">
              <a:buNone/>
            </a:pPr>
            <a:r>
              <a:rPr lang="en-US" sz="900" i="1" dirty="0">
                <a:solidFill>
                  <a:srgbClr val="E2EDF5"/>
                </a:solidFill>
                <a:latin typeface="Calibri" pitchFamily="34" charset="0"/>
                <a:ea typeface="Calibri" pitchFamily="34" charset="-122"/>
                <a:cs typeface="Calibri" pitchFamily="34" charset="-120"/>
              </a:rPr>
              <a:t>cholera</a:t>
            </a:r>
            <a:endParaRPr lang="en-US" sz="900" dirty="0"/>
          </a:p>
        </p:txBody>
      </p:sp>
      <p:sp>
        <p:nvSpPr>
          <p:cNvPr id="18" name="Shape 15"/>
          <p:cNvSpPr/>
          <p:nvPr/>
        </p:nvSpPr>
        <p:spPr>
          <a:xfrm>
            <a:off x="3758186" y="1699768"/>
            <a:ext cx="4736592" cy="96012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9" name="Shape 16"/>
          <p:cNvSpPr/>
          <p:nvPr/>
        </p:nvSpPr>
        <p:spPr>
          <a:xfrm>
            <a:off x="3758186" y="1699768"/>
            <a:ext cx="50292" cy="960120"/>
          </a:xfrm>
          <a:prstGeom prst="rect">
            <a:avLst/>
          </a:prstGeom>
          <a:solidFill>
            <a:srgbClr val="EF4444"/>
          </a:solidFill>
          <a:ln w="12700">
            <a:solidFill>
              <a:srgbClr val="EF4444"/>
            </a:solidFill>
            <a:prstDash val="solid"/>
          </a:ln>
        </p:spPr>
        <p:txBody>
          <a:bodyPr/>
          <a:lstStyle/>
          <a:p>
            <a:endParaRPr lang="en-BW"/>
          </a:p>
        </p:txBody>
      </p:sp>
      <p:sp>
        <p:nvSpPr>
          <p:cNvPr id="20" name="Text 17"/>
          <p:cNvSpPr/>
          <p:nvPr/>
        </p:nvSpPr>
        <p:spPr>
          <a:xfrm>
            <a:off x="3867914" y="1754632"/>
            <a:ext cx="4572000" cy="256032"/>
          </a:xfrm>
          <a:prstGeom prst="rect">
            <a:avLst/>
          </a:prstGeom>
          <a:noFill/>
          <a:ln/>
        </p:spPr>
        <p:txBody>
          <a:bodyPr wrap="square" lIns="0" tIns="0" rIns="0" bIns="0" rtlCol="0" anchor="ctr"/>
          <a:lstStyle/>
          <a:p>
            <a:pPr marL="0" indent="0">
              <a:buNone/>
            </a:pPr>
            <a:r>
              <a:rPr lang="en-US" sz="1300" b="1" dirty="0">
                <a:solidFill>
                  <a:srgbClr val="EF4444"/>
                </a:solidFill>
                <a:latin typeface="Calibri" pitchFamily="34" charset="0"/>
                <a:ea typeface="Calibri" pitchFamily="34" charset="-122"/>
                <a:cs typeface="Calibri" pitchFamily="34" charset="-120"/>
              </a:rPr>
              <a:t>Problem</a:t>
            </a:r>
            <a:endParaRPr lang="en-US" sz="1300" dirty="0"/>
          </a:p>
        </p:txBody>
      </p:sp>
      <p:sp>
        <p:nvSpPr>
          <p:cNvPr id="21" name="Text 18"/>
          <p:cNvSpPr/>
          <p:nvPr/>
        </p:nvSpPr>
        <p:spPr>
          <a:xfrm>
            <a:off x="3867914" y="2047240"/>
            <a:ext cx="4553712" cy="530352"/>
          </a:xfrm>
          <a:prstGeom prst="rect">
            <a:avLst/>
          </a:prstGeom>
          <a:noFill/>
          <a:ln/>
        </p:spPr>
        <p:txBody>
          <a:bodyPr wrap="square" lIns="0" tIns="0" rIns="0" bIns="0" rtlCol="0" anchor="ctr"/>
          <a:lstStyle/>
          <a:p>
            <a:pPr marL="0" indent="0">
              <a:buNone/>
            </a:pPr>
            <a:r>
              <a:rPr lang="en-US" sz="1200" dirty="0">
                <a:solidFill>
                  <a:srgbClr val="0A2540"/>
                </a:solidFill>
                <a:latin typeface="Calibri" pitchFamily="34" charset="0"/>
                <a:ea typeface="Calibri" pitchFamily="34" charset="-122"/>
                <a:cs typeface="Calibri" pitchFamily="34" charset="-120"/>
              </a:rPr>
              <a:t>Existing monitoring relies on manual sampling slow, costly and unable to detect rapid contamination events under realistic channel conditions.</a:t>
            </a:r>
            <a:endParaRPr lang="en-US" sz="1200" dirty="0"/>
          </a:p>
        </p:txBody>
      </p:sp>
      <p:sp>
        <p:nvSpPr>
          <p:cNvPr id="22" name="Shape 19"/>
          <p:cNvSpPr/>
          <p:nvPr/>
        </p:nvSpPr>
        <p:spPr>
          <a:xfrm>
            <a:off x="3767328" y="3334512"/>
            <a:ext cx="4736592" cy="1060704"/>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23" name="Shape 20"/>
          <p:cNvSpPr/>
          <p:nvPr/>
        </p:nvSpPr>
        <p:spPr>
          <a:xfrm>
            <a:off x="3749040" y="3344672"/>
            <a:ext cx="50292" cy="1060704"/>
          </a:xfrm>
          <a:prstGeom prst="rect">
            <a:avLst/>
          </a:prstGeom>
          <a:solidFill>
            <a:srgbClr val="02C39A"/>
          </a:solidFill>
          <a:ln w="12700">
            <a:solidFill>
              <a:srgbClr val="02C39A"/>
            </a:solidFill>
            <a:prstDash val="solid"/>
          </a:ln>
        </p:spPr>
        <p:txBody>
          <a:bodyPr/>
          <a:lstStyle/>
          <a:p>
            <a:endParaRPr lang="en-BW"/>
          </a:p>
        </p:txBody>
      </p:sp>
      <p:sp>
        <p:nvSpPr>
          <p:cNvPr id="24" name="Text 21"/>
          <p:cNvSpPr/>
          <p:nvPr/>
        </p:nvSpPr>
        <p:spPr>
          <a:xfrm>
            <a:off x="3858768" y="3399536"/>
            <a:ext cx="4572000" cy="256032"/>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Project Aim</a:t>
            </a:r>
            <a:endParaRPr lang="en-US" sz="1300" dirty="0"/>
          </a:p>
        </p:txBody>
      </p:sp>
      <p:sp>
        <p:nvSpPr>
          <p:cNvPr id="25" name="Text 22"/>
          <p:cNvSpPr/>
          <p:nvPr/>
        </p:nvSpPr>
        <p:spPr>
          <a:xfrm>
            <a:off x="3858768" y="3692144"/>
            <a:ext cx="4553712" cy="621792"/>
          </a:xfrm>
          <a:prstGeom prst="rect">
            <a:avLst/>
          </a:prstGeom>
          <a:noFill/>
          <a:ln/>
        </p:spPr>
        <p:txBody>
          <a:bodyPr wrap="square" lIns="0" tIns="0" rIns="0" bIns="0" rtlCol="0" anchor="ctr"/>
          <a:lstStyle/>
          <a:p>
            <a:pPr marL="0" indent="0">
              <a:buNone/>
            </a:pPr>
            <a:r>
              <a:rPr lang="en-US" sz="1200" dirty="0">
                <a:solidFill>
                  <a:srgbClr val="0A2540"/>
                </a:solidFill>
                <a:latin typeface="Calibri" pitchFamily="34" charset="0"/>
                <a:ea typeface="Calibri" pitchFamily="34" charset="-122"/>
                <a:cs typeface="Calibri" pitchFamily="34" charset="-120"/>
              </a:rPr>
              <a:t>Design and evaluate a complete end-to-end telemetry-based system for smart water quality monitoring that would be tested under realistic AWGN channel conditions with real sensor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Literature Review &amp; Research Gap</a:t>
            </a:r>
            <a:endParaRPr lang="en-US" sz="2800" dirty="0"/>
          </a:p>
        </p:txBody>
      </p:sp>
      <p:sp>
        <p:nvSpPr>
          <p:cNvPr id="3" name="Shape 1"/>
          <p:cNvSpPr/>
          <p:nvPr/>
        </p:nvSpPr>
        <p:spPr>
          <a:xfrm>
            <a:off x="457200" y="804672"/>
            <a:ext cx="8229600" cy="27432"/>
          </a:xfrm>
          <a:prstGeom prst="rect">
            <a:avLst/>
          </a:prstGeom>
          <a:solidFill>
            <a:srgbClr val="E2EDF5"/>
          </a:solidFill>
          <a:ln w="12700">
            <a:solidFill>
              <a:srgbClr val="E2EDF5"/>
            </a:solidFill>
            <a:prstDash val="solid"/>
          </a:ln>
        </p:spPr>
        <p:txBody>
          <a:bodyPr/>
          <a:lstStyle/>
          <a:p>
            <a:endParaRPr lang="en-BW"/>
          </a:p>
        </p:txBody>
      </p:sp>
      <p:sp>
        <p:nvSpPr>
          <p:cNvPr id="4" name="Shape 2"/>
          <p:cNvSpPr/>
          <p:nvPr/>
        </p:nvSpPr>
        <p:spPr>
          <a:xfrm>
            <a:off x="365760" y="960120"/>
            <a:ext cx="4114800" cy="365760"/>
          </a:xfrm>
          <a:prstGeom prst="rect">
            <a:avLst/>
          </a:prstGeom>
          <a:solidFill>
            <a:srgbClr val="1C7293"/>
          </a:solidFill>
          <a:ln w="12700">
            <a:solidFill>
              <a:srgbClr val="1C7293"/>
            </a:solidFill>
            <a:prstDash val="solid"/>
          </a:ln>
        </p:spPr>
        <p:txBody>
          <a:bodyPr/>
          <a:lstStyle/>
          <a:p>
            <a:endParaRPr lang="en-BW"/>
          </a:p>
        </p:txBody>
      </p:sp>
      <p:sp>
        <p:nvSpPr>
          <p:cNvPr id="5" name="Text 3"/>
          <p:cNvSpPr/>
          <p:nvPr/>
        </p:nvSpPr>
        <p:spPr>
          <a:xfrm>
            <a:off x="475488" y="1005840"/>
            <a:ext cx="38404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Water Quality Monitoring</a:t>
            </a:r>
            <a:endParaRPr lang="en-US" sz="1300" dirty="0"/>
          </a:p>
        </p:txBody>
      </p:sp>
      <p:sp>
        <p:nvSpPr>
          <p:cNvPr id="6" name="Shape 4"/>
          <p:cNvSpPr/>
          <p:nvPr/>
        </p:nvSpPr>
        <p:spPr>
          <a:xfrm>
            <a:off x="365760" y="1417320"/>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7" name="Shape 5"/>
          <p:cNvSpPr/>
          <p:nvPr/>
        </p:nvSpPr>
        <p:spPr>
          <a:xfrm>
            <a:off x="365760" y="1417320"/>
            <a:ext cx="54864" cy="621792"/>
          </a:xfrm>
          <a:prstGeom prst="rect">
            <a:avLst/>
          </a:prstGeom>
          <a:solidFill>
            <a:srgbClr val="1C7293"/>
          </a:solidFill>
          <a:ln w="12700">
            <a:solidFill>
              <a:srgbClr val="1C7293"/>
            </a:solidFill>
            <a:prstDash val="solid"/>
          </a:ln>
        </p:spPr>
        <p:txBody>
          <a:bodyPr/>
          <a:lstStyle/>
          <a:p>
            <a:endParaRPr lang="en-BW"/>
          </a:p>
        </p:txBody>
      </p:sp>
      <p:sp>
        <p:nvSpPr>
          <p:cNvPr id="8" name="Text 6"/>
          <p:cNvSpPr/>
          <p:nvPr/>
        </p:nvSpPr>
        <p:spPr>
          <a:xfrm>
            <a:off x="493776" y="1463040"/>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Pasika &amp; Gandla (2020)</a:t>
            </a:r>
            <a:endParaRPr lang="en-US" sz="1000" dirty="0"/>
          </a:p>
        </p:txBody>
      </p:sp>
      <p:sp>
        <p:nvSpPr>
          <p:cNvPr id="9" name="Text 7"/>
          <p:cNvSpPr/>
          <p:nvPr/>
        </p:nvSpPr>
        <p:spPr>
          <a:xfrm>
            <a:off x="493776" y="1709928"/>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Low-cost IoT with wireless transmission &amp; SMS alerts</a:t>
            </a:r>
            <a:endParaRPr lang="en-US" sz="950" dirty="0"/>
          </a:p>
        </p:txBody>
      </p:sp>
      <p:sp>
        <p:nvSpPr>
          <p:cNvPr id="10" name="Shape 8"/>
          <p:cNvSpPr/>
          <p:nvPr/>
        </p:nvSpPr>
        <p:spPr>
          <a:xfrm>
            <a:off x="365760" y="2130552"/>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11" name="Shape 9"/>
          <p:cNvSpPr/>
          <p:nvPr/>
        </p:nvSpPr>
        <p:spPr>
          <a:xfrm>
            <a:off x="365760" y="2130552"/>
            <a:ext cx="54864" cy="621792"/>
          </a:xfrm>
          <a:prstGeom prst="rect">
            <a:avLst/>
          </a:prstGeom>
          <a:solidFill>
            <a:srgbClr val="1C7293"/>
          </a:solidFill>
          <a:ln w="12700">
            <a:solidFill>
              <a:srgbClr val="1C7293"/>
            </a:solidFill>
            <a:prstDash val="solid"/>
          </a:ln>
        </p:spPr>
        <p:txBody>
          <a:bodyPr/>
          <a:lstStyle/>
          <a:p>
            <a:endParaRPr lang="en-BW"/>
          </a:p>
        </p:txBody>
      </p:sp>
      <p:sp>
        <p:nvSpPr>
          <p:cNvPr id="12" name="Text 10"/>
          <p:cNvSpPr/>
          <p:nvPr/>
        </p:nvSpPr>
        <p:spPr>
          <a:xfrm>
            <a:off x="493776" y="2176272"/>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Jan et al. (2021)</a:t>
            </a:r>
            <a:endParaRPr lang="en-US" sz="1000" dirty="0"/>
          </a:p>
        </p:txBody>
      </p:sp>
      <p:sp>
        <p:nvSpPr>
          <p:cNvPr id="13" name="Text 11"/>
          <p:cNvSpPr/>
          <p:nvPr/>
        </p:nvSpPr>
        <p:spPr>
          <a:xfrm>
            <a:off x="493776" y="2423160"/>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IoT architectures: sensors, comms, analytics — but no channel evaluation</a:t>
            </a:r>
            <a:endParaRPr lang="en-US" sz="950" dirty="0"/>
          </a:p>
        </p:txBody>
      </p:sp>
      <p:sp>
        <p:nvSpPr>
          <p:cNvPr id="14" name="Shape 12"/>
          <p:cNvSpPr/>
          <p:nvPr/>
        </p:nvSpPr>
        <p:spPr>
          <a:xfrm>
            <a:off x="365760" y="2843784"/>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15" name="Shape 13"/>
          <p:cNvSpPr/>
          <p:nvPr/>
        </p:nvSpPr>
        <p:spPr>
          <a:xfrm>
            <a:off x="365760" y="2843784"/>
            <a:ext cx="54864" cy="621792"/>
          </a:xfrm>
          <a:prstGeom prst="rect">
            <a:avLst/>
          </a:prstGeom>
          <a:solidFill>
            <a:srgbClr val="1C7293"/>
          </a:solidFill>
          <a:ln w="12700">
            <a:solidFill>
              <a:srgbClr val="1C7293"/>
            </a:solidFill>
            <a:prstDash val="solid"/>
          </a:ln>
        </p:spPr>
        <p:txBody>
          <a:bodyPr/>
          <a:lstStyle/>
          <a:p>
            <a:endParaRPr lang="en-BW"/>
          </a:p>
        </p:txBody>
      </p:sp>
      <p:sp>
        <p:nvSpPr>
          <p:cNvPr id="16" name="Text 14"/>
          <p:cNvSpPr/>
          <p:nvPr/>
        </p:nvSpPr>
        <p:spPr>
          <a:xfrm>
            <a:off x="493776" y="2889504"/>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Bhardwaj &amp; Cenkeramaddi (2025)</a:t>
            </a:r>
            <a:endParaRPr lang="en-US" sz="1000" dirty="0"/>
          </a:p>
        </p:txBody>
      </p:sp>
      <p:sp>
        <p:nvSpPr>
          <p:cNvPr id="17" name="Text 15"/>
          <p:cNvSpPr/>
          <p:nvPr/>
        </p:nvSpPr>
        <p:spPr>
          <a:xfrm>
            <a:off x="493776" y="3136392"/>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ML-based anomaly detection — limited telemetry integration</a:t>
            </a:r>
            <a:endParaRPr lang="en-US" sz="950" dirty="0"/>
          </a:p>
        </p:txBody>
      </p:sp>
      <p:sp>
        <p:nvSpPr>
          <p:cNvPr id="18" name="Shape 16"/>
          <p:cNvSpPr/>
          <p:nvPr/>
        </p:nvSpPr>
        <p:spPr>
          <a:xfrm>
            <a:off x="365760" y="3557016"/>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19" name="Shape 17"/>
          <p:cNvSpPr/>
          <p:nvPr/>
        </p:nvSpPr>
        <p:spPr>
          <a:xfrm>
            <a:off x="365760" y="3557016"/>
            <a:ext cx="54864" cy="621792"/>
          </a:xfrm>
          <a:prstGeom prst="rect">
            <a:avLst/>
          </a:prstGeom>
          <a:solidFill>
            <a:srgbClr val="1C7293"/>
          </a:solidFill>
          <a:ln w="12700">
            <a:solidFill>
              <a:srgbClr val="1C7293"/>
            </a:solidFill>
            <a:prstDash val="solid"/>
          </a:ln>
        </p:spPr>
        <p:txBody>
          <a:bodyPr/>
          <a:lstStyle/>
          <a:p>
            <a:endParaRPr lang="en-BW"/>
          </a:p>
        </p:txBody>
      </p:sp>
      <p:sp>
        <p:nvSpPr>
          <p:cNvPr id="20" name="Text 18"/>
          <p:cNvSpPr/>
          <p:nvPr/>
        </p:nvSpPr>
        <p:spPr>
          <a:xfrm>
            <a:off x="493776" y="3602736"/>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Essamlali et al. (2024)</a:t>
            </a:r>
            <a:endParaRPr lang="en-US" sz="1000" dirty="0"/>
          </a:p>
        </p:txBody>
      </p:sp>
      <p:sp>
        <p:nvSpPr>
          <p:cNvPr id="21" name="Text 19"/>
          <p:cNvSpPr/>
          <p:nvPr/>
        </p:nvSpPr>
        <p:spPr>
          <a:xfrm>
            <a:off x="493776" y="3849624"/>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IoT + ML review; end-to-end transmission reliability unexplored</a:t>
            </a:r>
            <a:endParaRPr lang="en-US" sz="950" dirty="0"/>
          </a:p>
        </p:txBody>
      </p:sp>
      <p:sp>
        <p:nvSpPr>
          <p:cNvPr id="22" name="Shape 20"/>
          <p:cNvSpPr/>
          <p:nvPr/>
        </p:nvSpPr>
        <p:spPr>
          <a:xfrm>
            <a:off x="4663440" y="960120"/>
            <a:ext cx="4114800" cy="365760"/>
          </a:xfrm>
          <a:prstGeom prst="rect">
            <a:avLst/>
          </a:prstGeom>
          <a:solidFill>
            <a:srgbClr val="065A82"/>
          </a:solidFill>
          <a:ln w="12700">
            <a:solidFill>
              <a:srgbClr val="065A82"/>
            </a:solidFill>
            <a:prstDash val="solid"/>
          </a:ln>
        </p:spPr>
        <p:txBody>
          <a:bodyPr/>
          <a:lstStyle/>
          <a:p>
            <a:endParaRPr lang="en-BW"/>
          </a:p>
        </p:txBody>
      </p:sp>
      <p:sp>
        <p:nvSpPr>
          <p:cNvPr id="23" name="Text 21"/>
          <p:cNvSpPr/>
          <p:nvPr/>
        </p:nvSpPr>
        <p:spPr>
          <a:xfrm>
            <a:off x="4773168" y="1005840"/>
            <a:ext cx="38404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Telemetry &amp; Communications</a:t>
            </a:r>
            <a:endParaRPr lang="en-US" sz="1300" dirty="0"/>
          </a:p>
        </p:txBody>
      </p:sp>
      <p:sp>
        <p:nvSpPr>
          <p:cNvPr id="24" name="Shape 22"/>
          <p:cNvSpPr/>
          <p:nvPr/>
        </p:nvSpPr>
        <p:spPr>
          <a:xfrm>
            <a:off x="4663440" y="1417320"/>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25" name="Shape 23"/>
          <p:cNvSpPr/>
          <p:nvPr/>
        </p:nvSpPr>
        <p:spPr>
          <a:xfrm>
            <a:off x="4663440" y="1417320"/>
            <a:ext cx="54864" cy="621792"/>
          </a:xfrm>
          <a:prstGeom prst="rect">
            <a:avLst/>
          </a:prstGeom>
          <a:solidFill>
            <a:srgbClr val="065A82"/>
          </a:solidFill>
          <a:ln w="12700">
            <a:solidFill>
              <a:srgbClr val="065A82"/>
            </a:solidFill>
            <a:prstDash val="solid"/>
          </a:ln>
        </p:spPr>
        <p:txBody>
          <a:bodyPr/>
          <a:lstStyle/>
          <a:p>
            <a:endParaRPr lang="en-BW"/>
          </a:p>
        </p:txBody>
      </p:sp>
      <p:sp>
        <p:nvSpPr>
          <p:cNvPr id="26" name="Text 24"/>
          <p:cNvSpPr/>
          <p:nvPr/>
        </p:nvSpPr>
        <p:spPr>
          <a:xfrm>
            <a:off x="4791456" y="1463040"/>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Bharati et al. (2020)</a:t>
            </a:r>
            <a:endParaRPr lang="en-US" sz="1000" dirty="0"/>
          </a:p>
        </p:txBody>
      </p:sp>
      <p:sp>
        <p:nvSpPr>
          <p:cNvPr id="27" name="Text 25"/>
          <p:cNvSpPr/>
          <p:nvPr/>
        </p:nvSpPr>
        <p:spPr>
          <a:xfrm>
            <a:off x="4791456" y="1709928"/>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BPSK achieves lowest BER under AWGN vs ASK/FSK — synthetic signals only</a:t>
            </a:r>
            <a:endParaRPr lang="en-US" sz="950" dirty="0"/>
          </a:p>
        </p:txBody>
      </p:sp>
      <p:sp>
        <p:nvSpPr>
          <p:cNvPr id="28" name="Shape 26"/>
          <p:cNvSpPr/>
          <p:nvPr/>
        </p:nvSpPr>
        <p:spPr>
          <a:xfrm>
            <a:off x="4663440" y="2130552"/>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29" name="Shape 27"/>
          <p:cNvSpPr/>
          <p:nvPr/>
        </p:nvSpPr>
        <p:spPr>
          <a:xfrm>
            <a:off x="4663440" y="2130552"/>
            <a:ext cx="54864" cy="621792"/>
          </a:xfrm>
          <a:prstGeom prst="rect">
            <a:avLst/>
          </a:prstGeom>
          <a:solidFill>
            <a:srgbClr val="065A82"/>
          </a:solidFill>
          <a:ln w="12700">
            <a:solidFill>
              <a:srgbClr val="065A82"/>
            </a:solidFill>
            <a:prstDash val="solid"/>
          </a:ln>
        </p:spPr>
        <p:txBody>
          <a:bodyPr/>
          <a:lstStyle/>
          <a:p>
            <a:endParaRPr lang="en-BW"/>
          </a:p>
        </p:txBody>
      </p:sp>
      <p:sp>
        <p:nvSpPr>
          <p:cNvPr id="30" name="Text 28"/>
          <p:cNvSpPr/>
          <p:nvPr/>
        </p:nvSpPr>
        <p:spPr>
          <a:xfrm>
            <a:off x="4791456" y="2176272"/>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Mahamud et al. (2021)</a:t>
            </a:r>
            <a:endParaRPr lang="en-US" sz="1000" dirty="0"/>
          </a:p>
        </p:txBody>
      </p:sp>
      <p:sp>
        <p:nvSpPr>
          <p:cNvPr id="31" name="Text 29"/>
          <p:cNvSpPr/>
          <p:nvPr/>
        </p:nvSpPr>
        <p:spPr>
          <a:xfrm>
            <a:off x="4791456" y="2423160"/>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PCM validated for real-time IMU data — not applied to environment</a:t>
            </a:r>
            <a:endParaRPr lang="en-US" sz="950" dirty="0"/>
          </a:p>
        </p:txBody>
      </p:sp>
      <p:sp>
        <p:nvSpPr>
          <p:cNvPr id="32" name="Shape 30"/>
          <p:cNvSpPr/>
          <p:nvPr/>
        </p:nvSpPr>
        <p:spPr>
          <a:xfrm>
            <a:off x="4663440" y="2843784"/>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33" name="Shape 31"/>
          <p:cNvSpPr/>
          <p:nvPr/>
        </p:nvSpPr>
        <p:spPr>
          <a:xfrm>
            <a:off x="4663440" y="2843784"/>
            <a:ext cx="54864" cy="621792"/>
          </a:xfrm>
          <a:prstGeom prst="rect">
            <a:avLst/>
          </a:prstGeom>
          <a:solidFill>
            <a:srgbClr val="065A82"/>
          </a:solidFill>
          <a:ln w="12700">
            <a:solidFill>
              <a:srgbClr val="065A82"/>
            </a:solidFill>
            <a:prstDash val="solid"/>
          </a:ln>
        </p:spPr>
        <p:txBody>
          <a:bodyPr/>
          <a:lstStyle/>
          <a:p>
            <a:endParaRPr lang="en-BW"/>
          </a:p>
        </p:txBody>
      </p:sp>
      <p:sp>
        <p:nvSpPr>
          <p:cNvPr id="34" name="Text 32"/>
          <p:cNvSpPr/>
          <p:nvPr/>
        </p:nvSpPr>
        <p:spPr>
          <a:xfrm>
            <a:off x="4791456" y="2889504"/>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Li &amp; Xu (2023)</a:t>
            </a:r>
            <a:endParaRPr lang="en-US" sz="1000" dirty="0"/>
          </a:p>
        </p:txBody>
      </p:sp>
      <p:sp>
        <p:nvSpPr>
          <p:cNvPr id="35" name="Text 33"/>
          <p:cNvSpPr/>
          <p:nvPr/>
        </p:nvSpPr>
        <p:spPr>
          <a:xfrm>
            <a:off x="4791456" y="3136392"/>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Comms in telemetry under harsh conditions — not water-specific</a:t>
            </a:r>
            <a:endParaRPr lang="en-US" sz="950" dirty="0"/>
          </a:p>
        </p:txBody>
      </p:sp>
      <p:sp>
        <p:nvSpPr>
          <p:cNvPr id="36" name="Shape 34"/>
          <p:cNvSpPr/>
          <p:nvPr/>
        </p:nvSpPr>
        <p:spPr>
          <a:xfrm>
            <a:off x="4663440" y="3557016"/>
            <a:ext cx="4114800" cy="621792"/>
          </a:xfrm>
          <a:prstGeom prst="rect">
            <a:avLst/>
          </a:prstGeom>
          <a:solidFill>
            <a:srgbClr val="FFFFFF"/>
          </a:solidFill>
          <a:ln w="12700">
            <a:solidFill>
              <a:srgbClr val="E2EDF5"/>
            </a:solidFill>
            <a:prstDash val="solid"/>
          </a:ln>
          <a:effectLst>
            <a:outerShdw blurRad="101600" dist="38100" dir="8100000" algn="bl" rotWithShape="0">
              <a:srgbClr val="000000">
                <a:alpha val="12000"/>
              </a:srgbClr>
            </a:outerShdw>
          </a:effectLst>
        </p:spPr>
        <p:txBody>
          <a:bodyPr/>
          <a:lstStyle/>
          <a:p>
            <a:endParaRPr lang="en-BW"/>
          </a:p>
        </p:txBody>
      </p:sp>
      <p:sp>
        <p:nvSpPr>
          <p:cNvPr id="37" name="Shape 35"/>
          <p:cNvSpPr/>
          <p:nvPr/>
        </p:nvSpPr>
        <p:spPr>
          <a:xfrm>
            <a:off x="4663440" y="3557016"/>
            <a:ext cx="54864" cy="621792"/>
          </a:xfrm>
          <a:prstGeom prst="rect">
            <a:avLst/>
          </a:prstGeom>
          <a:solidFill>
            <a:srgbClr val="065A82"/>
          </a:solidFill>
          <a:ln w="12700">
            <a:solidFill>
              <a:srgbClr val="065A82"/>
            </a:solidFill>
            <a:prstDash val="solid"/>
          </a:ln>
        </p:spPr>
        <p:txBody>
          <a:bodyPr/>
          <a:lstStyle/>
          <a:p>
            <a:endParaRPr lang="en-BW"/>
          </a:p>
        </p:txBody>
      </p:sp>
      <p:sp>
        <p:nvSpPr>
          <p:cNvPr id="38" name="Text 36"/>
          <p:cNvSpPr/>
          <p:nvPr/>
        </p:nvSpPr>
        <p:spPr>
          <a:xfrm>
            <a:off x="4791456" y="3602736"/>
            <a:ext cx="3840480" cy="228600"/>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Majadibodu (2021)</a:t>
            </a:r>
            <a:endParaRPr lang="en-US" sz="1000" dirty="0"/>
          </a:p>
        </p:txBody>
      </p:sp>
      <p:sp>
        <p:nvSpPr>
          <p:cNvPr id="39" name="Text 37"/>
          <p:cNvSpPr/>
          <p:nvPr/>
        </p:nvSpPr>
        <p:spPr>
          <a:xfrm>
            <a:off x="4791456" y="3849624"/>
            <a:ext cx="388620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Empirical evaluation in water treatment — component-level focus only</a:t>
            </a:r>
            <a:endParaRPr lang="en-US" sz="950" dirty="0"/>
          </a:p>
        </p:txBody>
      </p:sp>
      <p:sp>
        <p:nvSpPr>
          <p:cNvPr id="40" name="Shape 38"/>
          <p:cNvSpPr/>
          <p:nvPr/>
        </p:nvSpPr>
        <p:spPr>
          <a:xfrm>
            <a:off x="365760" y="4370832"/>
            <a:ext cx="8412480" cy="594360"/>
          </a:xfrm>
          <a:prstGeom prst="rect">
            <a:avLst/>
          </a:prstGeom>
          <a:solidFill>
            <a:srgbClr val="02C39A">
              <a:alpha val="80000"/>
            </a:srgbClr>
          </a:solidFill>
          <a:ln w="19050">
            <a:solidFill>
              <a:srgbClr val="02C39A"/>
            </a:solidFill>
            <a:prstDash val="solid"/>
          </a:ln>
        </p:spPr>
        <p:txBody>
          <a:bodyPr/>
          <a:lstStyle/>
          <a:p>
            <a:endParaRPr lang="en-BW"/>
          </a:p>
        </p:txBody>
      </p:sp>
      <p:sp>
        <p:nvSpPr>
          <p:cNvPr id="41" name="Text 39"/>
          <p:cNvSpPr/>
          <p:nvPr/>
        </p:nvSpPr>
        <p:spPr>
          <a:xfrm>
            <a:off x="502920" y="4425696"/>
            <a:ext cx="8138160" cy="457200"/>
          </a:xfrm>
          <a:prstGeom prst="rect">
            <a:avLst/>
          </a:prstGeom>
          <a:noFill/>
          <a:ln/>
        </p:spPr>
        <p:txBody>
          <a:bodyPr wrap="square" lIns="0" tIns="0" rIns="0" bIns="0"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Research Gap:  Neither area fully examines a complete integrated end-to-end telemetry system operating on real environmental data under realistic noisy channel conditions.</a:t>
            </a:r>
            <a:endParaRPr lang="en-US" sz="1100" dirty="0"/>
          </a:p>
        </p:txBody>
      </p:sp>
      <p:sp>
        <p:nvSpPr>
          <p:cNvPr id="42" name="Text 2">
            <a:extLst>
              <a:ext uri="{FF2B5EF4-FFF2-40B4-BE49-F238E27FC236}">
                <a16:creationId xmlns:a16="http://schemas.microsoft.com/office/drawing/2014/main" id="{E208ADF9-B025-1E88-18D2-6F3A571486EA}"/>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txBody>
          <a:bodyPr/>
          <a:lstStyle/>
          <a:p>
            <a:endParaRPr lang="en-BW"/>
          </a:p>
        </p:txBody>
      </p:sp>
      <p:sp>
        <p:nvSpPr>
          <p:cNvPr id="3" name="Text 1"/>
          <p:cNvSpPr/>
          <p:nvPr/>
        </p:nvSpPr>
        <p:spPr>
          <a:xfrm>
            <a:off x="384048" y="164592"/>
            <a:ext cx="8229600" cy="4572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System Architecture — 8-Stage Pipeline</a:t>
            </a:r>
            <a:endParaRPr lang="en-US" sz="3000" dirty="0"/>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02C39A"/>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274320" y="804672"/>
            <a:ext cx="2029968" cy="1783080"/>
          </a:xfrm>
          <a:prstGeom prst="rect">
            <a:avLst/>
          </a:prstGeom>
          <a:solidFill>
            <a:srgbClr val="065A82"/>
          </a:solidFill>
          <a:ln w="12700">
            <a:solidFill>
              <a:srgbClr val="065A82"/>
            </a:solidFill>
            <a:prstDash val="solid"/>
          </a:ln>
          <a:effectLst>
            <a:outerShdw blurRad="63500" dist="25400" dir="8100000" algn="bl" rotWithShape="0">
              <a:srgbClr val="000000">
                <a:alpha val="10000"/>
              </a:srgbClr>
            </a:outerShdw>
          </a:effectLst>
        </p:spPr>
        <p:txBody>
          <a:bodyPr/>
          <a:lstStyle/>
          <a:p>
            <a:endParaRPr lang="en-BW"/>
          </a:p>
        </p:txBody>
      </p:sp>
      <p:sp>
        <p:nvSpPr>
          <p:cNvPr id="6" name="Text 4"/>
          <p:cNvSpPr/>
          <p:nvPr/>
        </p:nvSpPr>
        <p:spPr>
          <a:xfrm>
            <a:off x="274320" y="877824"/>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274320" y="1307592"/>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Acquisition</a:t>
            </a:r>
            <a:endParaRPr lang="en-US" sz="1100" dirty="0"/>
          </a:p>
        </p:txBody>
      </p:sp>
      <p:sp>
        <p:nvSpPr>
          <p:cNvPr id="9" name="Shape 7"/>
          <p:cNvSpPr/>
          <p:nvPr/>
        </p:nvSpPr>
        <p:spPr>
          <a:xfrm>
            <a:off x="2304288" y="1691640"/>
            <a:ext cx="146304" cy="0"/>
          </a:xfrm>
          <a:prstGeom prst="line">
            <a:avLst/>
          </a:prstGeom>
          <a:noFill/>
          <a:ln w="25400">
            <a:solidFill>
              <a:srgbClr val="02C39A"/>
            </a:solidFill>
            <a:prstDash val="solid"/>
          </a:ln>
        </p:spPr>
        <p:txBody>
          <a:bodyPr/>
          <a:lstStyle/>
          <a:p>
            <a:endParaRPr lang="en-BW"/>
          </a:p>
        </p:txBody>
      </p:sp>
      <p:sp>
        <p:nvSpPr>
          <p:cNvPr id="10" name="Shape 8"/>
          <p:cNvSpPr/>
          <p:nvPr/>
        </p:nvSpPr>
        <p:spPr>
          <a:xfrm>
            <a:off x="2450592" y="804672"/>
            <a:ext cx="2029968" cy="1783080"/>
          </a:xfrm>
          <a:prstGeom prst="rect">
            <a:avLst/>
          </a:prstGeom>
          <a:solidFill>
            <a:srgbClr val="065A82"/>
          </a:solidFill>
          <a:ln w="12700">
            <a:solidFill>
              <a:srgbClr val="065A82"/>
            </a:solidFill>
            <a:prstDash val="solid"/>
          </a:ln>
          <a:effectLst>
            <a:outerShdw blurRad="63500" dist="25400" dir="8100000" algn="bl" rotWithShape="0">
              <a:srgbClr val="000000">
                <a:alpha val="10000"/>
              </a:srgbClr>
            </a:outerShdw>
          </a:effectLst>
        </p:spPr>
        <p:txBody>
          <a:bodyPr/>
          <a:lstStyle/>
          <a:p>
            <a:endParaRPr lang="en-BW"/>
          </a:p>
        </p:txBody>
      </p:sp>
      <p:sp>
        <p:nvSpPr>
          <p:cNvPr id="11" name="Text 9"/>
          <p:cNvSpPr/>
          <p:nvPr/>
        </p:nvSpPr>
        <p:spPr>
          <a:xfrm>
            <a:off x="2450592" y="877824"/>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2450592" y="1307592"/>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Processing</a:t>
            </a:r>
            <a:endParaRPr lang="en-US" sz="1100" dirty="0"/>
          </a:p>
        </p:txBody>
      </p:sp>
      <p:sp>
        <p:nvSpPr>
          <p:cNvPr id="14" name="Shape 12"/>
          <p:cNvSpPr/>
          <p:nvPr/>
        </p:nvSpPr>
        <p:spPr>
          <a:xfrm>
            <a:off x="4480560" y="1691640"/>
            <a:ext cx="146304" cy="0"/>
          </a:xfrm>
          <a:prstGeom prst="line">
            <a:avLst/>
          </a:prstGeom>
          <a:noFill/>
          <a:ln w="25400">
            <a:solidFill>
              <a:srgbClr val="02C39A"/>
            </a:solidFill>
            <a:prstDash val="solid"/>
          </a:ln>
        </p:spPr>
        <p:txBody>
          <a:bodyPr/>
          <a:lstStyle/>
          <a:p>
            <a:endParaRPr lang="en-BW"/>
          </a:p>
        </p:txBody>
      </p:sp>
      <p:sp>
        <p:nvSpPr>
          <p:cNvPr id="15" name="Shape 13"/>
          <p:cNvSpPr/>
          <p:nvPr/>
        </p:nvSpPr>
        <p:spPr>
          <a:xfrm>
            <a:off x="4626864" y="804672"/>
            <a:ext cx="2029968" cy="1783080"/>
          </a:xfrm>
          <a:prstGeom prst="rect">
            <a:avLst/>
          </a:prstGeom>
          <a:solidFill>
            <a:srgbClr val="1C7293"/>
          </a:solidFill>
          <a:ln w="12700">
            <a:solidFill>
              <a:srgbClr val="1C7293"/>
            </a:solidFill>
            <a:prstDash val="solid"/>
          </a:ln>
          <a:effectLst>
            <a:outerShdw blurRad="63500" dist="25400" dir="8100000" algn="bl" rotWithShape="0">
              <a:srgbClr val="000000">
                <a:alpha val="10000"/>
              </a:srgbClr>
            </a:outerShdw>
          </a:effectLst>
        </p:spPr>
        <p:txBody>
          <a:bodyPr/>
          <a:lstStyle/>
          <a:p>
            <a:endParaRPr lang="en-BW"/>
          </a:p>
        </p:txBody>
      </p:sp>
      <p:sp>
        <p:nvSpPr>
          <p:cNvPr id="16" name="Text 14"/>
          <p:cNvSpPr/>
          <p:nvPr/>
        </p:nvSpPr>
        <p:spPr>
          <a:xfrm>
            <a:off x="4626864" y="877824"/>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4626864" y="1307592"/>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Quantisation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PCM</a:t>
            </a:r>
            <a:endParaRPr lang="en-US" sz="1100" dirty="0"/>
          </a:p>
        </p:txBody>
      </p:sp>
      <p:sp>
        <p:nvSpPr>
          <p:cNvPr id="19" name="Shape 17"/>
          <p:cNvSpPr/>
          <p:nvPr/>
        </p:nvSpPr>
        <p:spPr>
          <a:xfrm>
            <a:off x="6656832" y="1691640"/>
            <a:ext cx="146304" cy="0"/>
          </a:xfrm>
          <a:prstGeom prst="line">
            <a:avLst/>
          </a:prstGeom>
          <a:noFill/>
          <a:ln w="25400">
            <a:solidFill>
              <a:srgbClr val="02C39A"/>
            </a:solidFill>
            <a:prstDash val="solid"/>
          </a:ln>
        </p:spPr>
        <p:txBody>
          <a:bodyPr/>
          <a:lstStyle/>
          <a:p>
            <a:endParaRPr lang="en-BW"/>
          </a:p>
        </p:txBody>
      </p:sp>
      <p:sp>
        <p:nvSpPr>
          <p:cNvPr id="20" name="Shape 18"/>
          <p:cNvSpPr/>
          <p:nvPr/>
        </p:nvSpPr>
        <p:spPr>
          <a:xfrm>
            <a:off x="6803136" y="804672"/>
            <a:ext cx="2029968" cy="1783080"/>
          </a:xfrm>
          <a:prstGeom prst="rect">
            <a:avLst/>
          </a:prstGeom>
          <a:solidFill>
            <a:srgbClr val="1C7293"/>
          </a:solidFill>
          <a:ln w="12700">
            <a:solidFill>
              <a:srgbClr val="1C7293"/>
            </a:solidFill>
            <a:prstDash val="solid"/>
          </a:ln>
          <a:effectLst>
            <a:outerShdw blurRad="63500" dist="25400" dir="8100000" algn="bl" rotWithShape="0">
              <a:srgbClr val="000000">
                <a:alpha val="10000"/>
              </a:srgbClr>
            </a:outerShdw>
          </a:effectLst>
        </p:spPr>
        <p:txBody>
          <a:bodyPr/>
          <a:lstStyle/>
          <a:p>
            <a:endParaRPr lang="en-BW"/>
          </a:p>
        </p:txBody>
      </p:sp>
      <p:sp>
        <p:nvSpPr>
          <p:cNvPr id="21" name="Text 19"/>
          <p:cNvSpPr/>
          <p:nvPr/>
        </p:nvSpPr>
        <p:spPr>
          <a:xfrm>
            <a:off x="6803136" y="877824"/>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6803136" y="1307592"/>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BPSK</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Modulation</a:t>
            </a:r>
            <a:endParaRPr lang="en-US" sz="1100" dirty="0"/>
          </a:p>
        </p:txBody>
      </p:sp>
      <p:sp>
        <p:nvSpPr>
          <p:cNvPr id="24" name="Shape 22"/>
          <p:cNvSpPr/>
          <p:nvPr/>
        </p:nvSpPr>
        <p:spPr>
          <a:xfrm>
            <a:off x="274320" y="2834640"/>
            <a:ext cx="2029968" cy="1783080"/>
          </a:xfrm>
          <a:prstGeom prst="rect">
            <a:avLst/>
          </a:prstGeom>
          <a:solidFill>
            <a:srgbClr val="1E3A5F"/>
          </a:solidFill>
          <a:ln w="12700">
            <a:solidFill>
              <a:srgbClr val="1E3A5F"/>
            </a:solidFill>
            <a:prstDash val="solid"/>
          </a:ln>
          <a:effectLst>
            <a:outerShdw blurRad="63500" dist="25400" dir="8100000" algn="bl" rotWithShape="0">
              <a:srgbClr val="000000">
                <a:alpha val="10000"/>
              </a:srgbClr>
            </a:outerShdw>
          </a:effectLst>
        </p:spPr>
        <p:txBody>
          <a:bodyPr/>
          <a:lstStyle/>
          <a:p>
            <a:endParaRPr lang="en-BW"/>
          </a:p>
        </p:txBody>
      </p:sp>
      <p:sp>
        <p:nvSpPr>
          <p:cNvPr id="25" name="Text 23"/>
          <p:cNvSpPr/>
          <p:nvPr/>
        </p:nvSpPr>
        <p:spPr>
          <a:xfrm>
            <a:off x="274320" y="2907792"/>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5</a:t>
            </a:r>
            <a:endParaRPr lang="en-US" sz="2400" dirty="0"/>
          </a:p>
        </p:txBody>
      </p:sp>
      <p:sp>
        <p:nvSpPr>
          <p:cNvPr id="26" name="Text 24"/>
          <p:cNvSpPr/>
          <p:nvPr/>
        </p:nvSpPr>
        <p:spPr>
          <a:xfrm>
            <a:off x="274320" y="3337560"/>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AWGN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p>
        </p:txBody>
      </p:sp>
      <p:sp>
        <p:nvSpPr>
          <p:cNvPr id="28" name="Shape 26"/>
          <p:cNvSpPr/>
          <p:nvPr/>
        </p:nvSpPr>
        <p:spPr>
          <a:xfrm>
            <a:off x="2304288" y="3721608"/>
            <a:ext cx="146304" cy="0"/>
          </a:xfrm>
          <a:prstGeom prst="line">
            <a:avLst/>
          </a:prstGeom>
          <a:noFill/>
          <a:ln w="25400">
            <a:solidFill>
              <a:srgbClr val="02C39A"/>
            </a:solidFill>
            <a:prstDash val="solid"/>
          </a:ln>
        </p:spPr>
        <p:txBody>
          <a:bodyPr/>
          <a:lstStyle/>
          <a:p>
            <a:endParaRPr lang="en-BW"/>
          </a:p>
        </p:txBody>
      </p:sp>
      <p:sp>
        <p:nvSpPr>
          <p:cNvPr id="29" name="Shape 27"/>
          <p:cNvSpPr/>
          <p:nvPr/>
        </p:nvSpPr>
        <p:spPr>
          <a:xfrm>
            <a:off x="2450592" y="2834640"/>
            <a:ext cx="2029968" cy="1783080"/>
          </a:xfrm>
          <a:prstGeom prst="rect">
            <a:avLst/>
          </a:prstGeom>
          <a:solidFill>
            <a:srgbClr val="1E3A5F"/>
          </a:solidFill>
          <a:ln w="12700">
            <a:solidFill>
              <a:srgbClr val="1E3A5F"/>
            </a:solidFill>
            <a:prstDash val="solid"/>
          </a:ln>
          <a:effectLst>
            <a:outerShdw blurRad="63500" dist="25400" dir="8100000" algn="bl" rotWithShape="0">
              <a:srgbClr val="000000">
                <a:alpha val="10000"/>
              </a:srgbClr>
            </a:outerShdw>
          </a:effectLst>
        </p:spPr>
        <p:txBody>
          <a:bodyPr/>
          <a:lstStyle/>
          <a:p>
            <a:endParaRPr lang="en-BW"/>
          </a:p>
        </p:txBody>
      </p:sp>
      <p:sp>
        <p:nvSpPr>
          <p:cNvPr id="30" name="Text 28"/>
          <p:cNvSpPr/>
          <p:nvPr/>
        </p:nvSpPr>
        <p:spPr>
          <a:xfrm>
            <a:off x="2450592" y="2907792"/>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6</a:t>
            </a:r>
            <a:endParaRPr lang="en-US" sz="2400" dirty="0"/>
          </a:p>
        </p:txBody>
      </p:sp>
      <p:sp>
        <p:nvSpPr>
          <p:cNvPr id="31" name="Text 29"/>
          <p:cNvSpPr/>
          <p:nvPr/>
        </p:nvSpPr>
        <p:spPr>
          <a:xfrm>
            <a:off x="2450592" y="3337560"/>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Demodulation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Decode</a:t>
            </a:r>
            <a:endParaRPr lang="en-US" sz="1100" dirty="0"/>
          </a:p>
        </p:txBody>
      </p:sp>
      <p:sp>
        <p:nvSpPr>
          <p:cNvPr id="33" name="Shape 31"/>
          <p:cNvSpPr/>
          <p:nvPr/>
        </p:nvSpPr>
        <p:spPr>
          <a:xfrm>
            <a:off x="4480560" y="3721608"/>
            <a:ext cx="146304" cy="0"/>
          </a:xfrm>
          <a:prstGeom prst="line">
            <a:avLst/>
          </a:prstGeom>
          <a:noFill/>
          <a:ln w="25400">
            <a:solidFill>
              <a:srgbClr val="02C39A"/>
            </a:solidFill>
            <a:prstDash val="solid"/>
          </a:ln>
        </p:spPr>
        <p:txBody>
          <a:bodyPr/>
          <a:lstStyle/>
          <a:p>
            <a:endParaRPr lang="en-BW"/>
          </a:p>
        </p:txBody>
      </p:sp>
      <p:sp>
        <p:nvSpPr>
          <p:cNvPr id="34" name="Shape 32"/>
          <p:cNvSpPr/>
          <p:nvPr/>
        </p:nvSpPr>
        <p:spPr>
          <a:xfrm>
            <a:off x="4626864" y="2834640"/>
            <a:ext cx="2029968" cy="1783080"/>
          </a:xfrm>
          <a:prstGeom prst="rect">
            <a:avLst/>
          </a:prstGeom>
          <a:solidFill>
            <a:srgbClr val="1C7293"/>
          </a:solidFill>
          <a:ln w="12700">
            <a:solidFill>
              <a:srgbClr val="1C7293"/>
            </a:solidFill>
            <a:prstDash val="solid"/>
          </a:ln>
          <a:effectLst>
            <a:outerShdw blurRad="63500" dist="25400" dir="8100000" algn="bl" rotWithShape="0">
              <a:srgbClr val="000000">
                <a:alpha val="10000"/>
              </a:srgbClr>
            </a:outerShdw>
          </a:effectLst>
        </p:spPr>
        <p:txBody>
          <a:bodyPr/>
          <a:lstStyle/>
          <a:p>
            <a:endParaRPr lang="en-BW"/>
          </a:p>
        </p:txBody>
      </p:sp>
      <p:sp>
        <p:nvSpPr>
          <p:cNvPr id="35" name="Text 33"/>
          <p:cNvSpPr/>
          <p:nvPr/>
        </p:nvSpPr>
        <p:spPr>
          <a:xfrm>
            <a:off x="4626864" y="2907792"/>
            <a:ext cx="2029968" cy="411480"/>
          </a:xfrm>
          <a:prstGeom prst="rect">
            <a:avLst/>
          </a:prstGeom>
          <a:noFill/>
          <a:ln/>
        </p:spPr>
        <p:txBody>
          <a:bodyPr wrap="square" lIns="0" tIns="0" rIns="0" bIns="0" rtlCol="0" anchor="ctr"/>
          <a:lstStyle/>
          <a:p>
            <a:pPr marL="0" indent="0" algn="ctr">
              <a:buNone/>
            </a:pPr>
            <a:r>
              <a:rPr lang="en-US" sz="2400" b="1" dirty="0">
                <a:solidFill>
                  <a:srgbClr val="02C39A"/>
                </a:solidFill>
                <a:latin typeface="Calibri" pitchFamily="34" charset="0"/>
                <a:ea typeface="Calibri" pitchFamily="34" charset="-122"/>
                <a:cs typeface="Calibri" pitchFamily="34" charset="-120"/>
              </a:rPr>
              <a:t>7</a:t>
            </a:r>
            <a:endParaRPr lang="en-US" sz="2400" dirty="0"/>
          </a:p>
        </p:txBody>
      </p:sp>
      <p:sp>
        <p:nvSpPr>
          <p:cNvPr id="36" name="Text 34"/>
          <p:cNvSpPr/>
          <p:nvPr/>
        </p:nvSpPr>
        <p:spPr>
          <a:xfrm>
            <a:off x="4626864" y="3337560"/>
            <a:ext cx="2029968" cy="8046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38" name="Shape 36"/>
          <p:cNvSpPr/>
          <p:nvPr/>
        </p:nvSpPr>
        <p:spPr>
          <a:xfrm>
            <a:off x="6656832" y="3721608"/>
            <a:ext cx="146304" cy="0"/>
          </a:xfrm>
          <a:prstGeom prst="line">
            <a:avLst/>
          </a:prstGeom>
          <a:noFill/>
          <a:ln w="25400">
            <a:solidFill>
              <a:srgbClr val="02C39A"/>
            </a:solidFill>
            <a:prstDash val="solid"/>
          </a:ln>
        </p:spPr>
        <p:txBody>
          <a:bodyPr/>
          <a:lstStyle/>
          <a:p>
            <a:endParaRPr lang="en-BW"/>
          </a:p>
        </p:txBody>
      </p:sp>
      <p:sp>
        <p:nvSpPr>
          <p:cNvPr id="39" name="Shape 37"/>
          <p:cNvSpPr/>
          <p:nvPr/>
        </p:nvSpPr>
        <p:spPr>
          <a:xfrm>
            <a:off x="6803136" y="2834640"/>
            <a:ext cx="2029968" cy="1783080"/>
          </a:xfrm>
          <a:prstGeom prst="rect">
            <a:avLst/>
          </a:prstGeom>
          <a:solidFill>
            <a:srgbClr val="02C39A"/>
          </a:solidFill>
          <a:ln w="12700">
            <a:solidFill>
              <a:srgbClr val="02C39A"/>
            </a:solidFill>
            <a:prstDash val="solid"/>
          </a:ln>
          <a:effectLst>
            <a:outerShdw blurRad="63500" dist="25400" dir="8100000" algn="bl" rotWithShape="0">
              <a:srgbClr val="000000">
                <a:alpha val="10000"/>
              </a:srgbClr>
            </a:outerShdw>
          </a:effectLst>
        </p:spPr>
        <p:txBody>
          <a:bodyPr/>
          <a:lstStyle/>
          <a:p>
            <a:endParaRPr lang="en-BW"/>
          </a:p>
        </p:txBody>
      </p:sp>
      <p:sp>
        <p:nvSpPr>
          <p:cNvPr id="40" name="Text 38"/>
          <p:cNvSpPr/>
          <p:nvPr/>
        </p:nvSpPr>
        <p:spPr>
          <a:xfrm>
            <a:off x="6803136" y="2907792"/>
            <a:ext cx="2029968" cy="411480"/>
          </a:xfrm>
          <a:prstGeom prst="rect">
            <a:avLst/>
          </a:prstGeom>
          <a:noFill/>
          <a:ln/>
        </p:spPr>
        <p:txBody>
          <a:bodyPr wrap="square" lIns="0" tIns="0" rIns="0" bIns="0" rtlCol="0" anchor="ctr"/>
          <a:lstStyle/>
          <a:p>
            <a:pPr marL="0" indent="0" algn="ctr">
              <a:buNone/>
            </a:pPr>
            <a:r>
              <a:rPr lang="en-US" sz="2400" b="1" dirty="0">
                <a:solidFill>
                  <a:srgbClr val="0A2540"/>
                </a:solidFill>
                <a:latin typeface="Calibri" pitchFamily="34" charset="0"/>
                <a:ea typeface="Calibri" pitchFamily="34" charset="-122"/>
                <a:cs typeface="Calibri" pitchFamily="34" charset="-120"/>
              </a:rPr>
              <a:t>8</a:t>
            </a:r>
            <a:endParaRPr lang="en-US" sz="2400" dirty="0"/>
          </a:p>
        </p:txBody>
      </p:sp>
      <p:sp>
        <p:nvSpPr>
          <p:cNvPr id="41" name="Text 39"/>
          <p:cNvSpPr/>
          <p:nvPr/>
        </p:nvSpPr>
        <p:spPr>
          <a:xfrm>
            <a:off x="6803136" y="3337560"/>
            <a:ext cx="2029968" cy="804672"/>
          </a:xfrm>
          <a:prstGeom prst="rect">
            <a:avLst/>
          </a:prstGeom>
          <a:noFill/>
          <a:ln/>
        </p:spPr>
        <p:txBody>
          <a:bodyPr wrap="square" lIns="0" tIns="0" rIns="0" bIns="0" rtlCol="0" anchor="ctr"/>
          <a:lstStyle/>
          <a:p>
            <a:pPr marL="0" indent="0" algn="ctr">
              <a:buNone/>
            </a:pPr>
            <a:r>
              <a:rPr lang="en-US" sz="1100" b="1" dirty="0">
                <a:solidFill>
                  <a:srgbClr val="0A2540"/>
                </a:solidFill>
                <a:latin typeface="Calibri" pitchFamily="34" charset="0"/>
                <a:ea typeface="Calibri" pitchFamily="34" charset="-122"/>
                <a:cs typeface="Calibri" pitchFamily="34" charset="-120"/>
              </a:rPr>
              <a:t>Monitoring</a:t>
            </a:r>
            <a:endParaRPr lang="en-US" sz="1100" dirty="0"/>
          </a:p>
          <a:p>
            <a:pPr marL="0" indent="0" algn="ctr">
              <a:buNone/>
            </a:pPr>
            <a:r>
              <a:rPr lang="en-US" sz="1100" b="1" dirty="0">
                <a:solidFill>
                  <a:srgbClr val="0A2540"/>
                </a:solidFill>
                <a:latin typeface="Calibri" pitchFamily="34" charset="0"/>
                <a:ea typeface="Calibri" pitchFamily="34" charset="-122"/>
                <a:cs typeface="Calibri" pitchFamily="34" charset="-120"/>
              </a:rPr>
              <a:t>Output</a:t>
            </a:r>
            <a:endParaRPr lang="en-US" sz="1100" dirty="0"/>
          </a:p>
        </p:txBody>
      </p:sp>
      <p:sp>
        <p:nvSpPr>
          <p:cNvPr id="43" name="Text 41"/>
          <p:cNvSpPr/>
          <p:nvPr/>
        </p:nvSpPr>
        <p:spPr>
          <a:xfrm>
            <a:off x="457200" y="4892040"/>
            <a:ext cx="8229600" cy="20116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Python · NumPy · SciPy · Pandas · Matplotlib  |  Real data: Darling–Baaka River Smart Buoy Network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8229600" cy="548640"/>
          </a:xfrm>
          <a:prstGeom prst="rect">
            <a:avLst/>
          </a:prstGeom>
          <a:noFill/>
        </p:spPr>
        <p:txBody>
          <a:bodyPr wrap="square" lIns="0" tIns="0" rIns="0" bIns="0" anchor="t">
            <a:spAutoFit/>
          </a:bodyPr>
          <a:lstStyle/>
          <a:p>
            <a:pPr algn="l"/>
            <a:r>
              <a:rPr sz="2600" b="1" i="0">
                <a:solidFill>
                  <a:srgbClr val="0A2540"/>
                </a:solidFill>
                <a:latin typeface="Calibri"/>
              </a:rPr>
              <a:t>Signal Processing  —  Dataset &amp; Preprocessing</a:t>
            </a:r>
          </a:p>
        </p:txBody>
      </p:sp>
      <p:sp>
        <p:nvSpPr>
          <p:cNvPr id="3" name="Rectangle 2"/>
          <p:cNvSpPr/>
          <p:nvPr/>
        </p:nvSpPr>
        <p:spPr>
          <a:xfrm>
            <a:off x="457200" y="804672"/>
            <a:ext cx="8229600" cy="22860"/>
          </a:xfrm>
          <a:prstGeom prst="rect">
            <a:avLst/>
          </a:prstGeom>
          <a:solidFill>
            <a:srgbClr val="E2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960120"/>
            <a:ext cx="8412480" cy="6400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05840"/>
            <a:ext cx="8046720" cy="274320"/>
          </a:xfrm>
          <a:prstGeom prst="rect">
            <a:avLst/>
          </a:prstGeom>
          <a:noFill/>
        </p:spPr>
        <p:txBody>
          <a:bodyPr wrap="square" lIns="0" tIns="0" rIns="0" bIns="0" anchor="t">
            <a:spAutoFit/>
          </a:bodyPr>
          <a:lstStyle/>
          <a:p>
            <a:pPr algn="l"/>
            <a:r>
              <a:rPr sz="1400" b="1" i="0">
                <a:solidFill>
                  <a:srgbClr val="02C39A"/>
                </a:solidFill>
                <a:latin typeface="Calibri"/>
              </a:rPr>
              <a:t>Dataset: Darling–Baaka River Smart Buoy Network  ·  NSW DCCEEW</a:t>
            </a:r>
          </a:p>
        </p:txBody>
      </p:sp>
      <p:sp>
        <p:nvSpPr>
          <p:cNvPr id="6" name="TextBox 5"/>
          <p:cNvSpPr txBox="1"/>
          <p:nvPr/>
        </p:nvSpPr>
        <p:spPr>
          <a:xfrm>
            <a:off x="548640" y="1261872"/>
            <a:ext cx="8046720" cy="274320"/>
          </a:xfrm>
          <a:prstGeom prst="rect">
            <a:avLst/>
          </a:prstGeom>
          <a:noFill/>
        </p:spPr>
        <p:txBody>
          <a:bodyPr wrap="square" lIns="0" tIns="0" rIns="0" bIns="0" anchor="t">
            <a:spAutoFit/>
          </a:bodyPr>
          <a:lstStyle/>
          <a:p>
            <a:pPr algn="l"/>
            <a:r>
              <a:rPr sz="1100" b="0" i="0">
                <a:solidFill>
                  <a:srgbClr val="E2EDF5"/>
                </a:solidFill>
                <a:latin typeface="Calibri"/>
              </a:rPr>
              <a:t>Parameters: Temperature (°C), pH, Dissolved Oxygen (mg/L)  ·  Sampling interval: 30 minutes  ·  Period: Jan–Mar 2024</a:t>
            </a:r>
          </a:p>
        </p:txBody>
      </p:sp>
      <p:pic>
        <p:nvPicPr>
          <p:cNvPr id="7" name="Picture 6" descr="preprocess_visual.png"/>
          <p:cNvPicPr>
            <a:picLocks noChangeAspect="1"/>
          </p:cNvPicPr>
          <p:nvPr/>
        </p:nvPicPr>
        <p:blipFill>
          <a:blip r:embed="rId2"/>
          <a:stretch>
            <a:fillRect/>
          </a:stretch>
        </p:blipFill>
        <p:spPr>
          <a:xfrm>
            <a:off x="365760" y="1783080"/>
            <a:ext cx="8412480" cy="2010035"/>
          </a:xfrm>
          <a:prstGeom prst="rect">
            <a:avLst/>
          </a:prstGeom>
        </p:spPr>
      </p:pic>
      <p:sp>
        <p:nvSpPr>
          <p:cNvPr id="8" name="TextBox 7"/>
          <p:cNvSpPr txBox="1"/>
          <p:nvPr/>
        </p:nvSpPr>
        <p:spPr>
          <a:xfrm>
            <a:off x="365760" y="3977639"/>
            <a:ext cx="8412480" cy="274320"/>
          </a:xfrm>
          <a:prstGeom prst="rect">
            <a:avLst/>
          </a:prstGeom>
          <a:noFill/>
        </p:spPr>
        <p:txBody>
          <a:bodyPr wrap="square" lIns="0" tIns="0" rIns="0" bIns="0" anchor="t">
            <a:spAutoFit/>
          </a:bodyPr>
          <a:lstStyle/>
          <a:p>
            <a:pPr algn="ctr"/>
            <a:r>
              <a:rPr sz="1100" b="1" i="1">
                <a:solidFill>
                  <a:srgbClr val="065A82"/>
                </a:solidFill>
                <a:latin typeface="Calibri"/>
              </a:rPr>
              <a:t>Implemented in Python as  clean_data()  →  resample_uniform()  →  normalize_columns()</a:t>
            </a:r>
          </a:p>
        </p:txBody>
      </p:sp>
      <p:sp>
        <p:nvSpPr>
          <p:cNvPr id="9" name="Rounded Rectangle 8"/>
          <p:cNvSpPr/>
          <p:nvPr/>
        </p:nvSpPr>
        <p:spPr>
          <a:xfrm>
            <a:off x="457200" y="4343400"/>
            <a:ext cx="2651760" cy="411480"/>
          </a:xfrm>
          <a:prstGeom prst="roundRect">
            <a:avLst>
              <a:gd name="adj" fmla="val 15000"/>
            </a:avLst>
          </a:prstGeom>
          <a:solidFill>
            <a:srgbClr val="FFFFFF"/>
          </a:solidFill>
          <a:ln w="6350">
            <a:solidFill>
              <a:srgbClr val="E2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389120"/>
            <a:ext cx="2377440" cy="182880"/>
          </a:xfrm>
          <a:prstGeom prst="rect">
            <a:avLst/>
          </a:prstGeom>
          <a:noFill/>
        </p:spPr>
        <p:txBody>
          <a:bodyPr wrap="square" lIns="0" tIns="0" rIns="0" bIns="0" anchor="t">
            <a:spAutoFit/>
          </a:bodyPr>
          <a:lstStyle/>
          <a:p>
            <a:pPr algn="l"/>
            <a:r>
              <a:rPr sz="1100" b="1" i="0">
                <a:solidFill>
                  <a:srgbClr val="065A82"/>
                </a:solidFill>
                <a:latin typeface="Calibri"/>
              </a:rPr>
              <a:t>Duplicates removed</a:t>
            </a:r>
          </a:p>
        </p:txBody>
      </p:sp>
      <p:sp>
        <p:nvSpPr>
          <p:cNvPr id="11" name="TextBox 10"/>
          <p:cNvSpPr txBox="1"/>
          <p:nvPr/>
        </p:nvSpPr>
        <p:spPr>
          <a:xfrm>
            <a:off x="594360" y="4553712"/>
            <a:ext cx="2377440" cy="182880"/>
          </a:xfrm>
          <a:prstGeom prst="rect">
            <a:avLst/>
          </a:prstGeom>
          <a:noFill/>
        </p:spPr>
        <p:txBody>
          <a:bodyPr wrap="square" lIns="0" tIns="0" rIns="0" bIns="0" anchor="t">
            <a:spAutoFit/>
          </a:bodyPr>
          <a:lstStyle/>
          <a:p>
            <a:pPr algn="l"/>
            <a:r>
              <a:rPr sz="900" b="0" i="1">
                <a:solidFill>
                  <a:srgbClr val="888780"/>
                </a:solidFill>
                <a:latin typeface="Calibri"/>
              </a:rPr>
              <a:t>out-of-range flagged</a:t>
            </a:r>
          </a:p>
        </p:txBody>
      </p:sp>
      <p:sp>
        <p:nvSpPr>
          <p:cNvPr id="12" name="Rounded Rectangle 11"/>
          <p:cNvSpPr/>
          <p:nvPr/>
        </p:nvSpPr>
        <p:spPr>
          <a:xfrm>
            <a:off x="3246120" y="4343400"/>
            <a:ext cx="2651760" cy="411480"/>
          </a:xfrm>
          <a:prstGeom prst="roundRect">
            <a:avLst>
              <a:gd name="adj" fmla="val 15000"/>
            </a:avLst>
          </a:prstGeom>
          <a:solidFill>
            <a:srgbClr val="FFFFFF"/>
          </a:solidFill>
          <a:ln w="6350">
            <a:solidFill>
              <a:srgbClr val="E2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79" y="4389120"/>
            <a:ext cx="2377440" cy="182880"/>
          </a:xfrm>
          <a:prstGeom prst="rect">
            <a:avLst/>
          </a:prstGeom>
          <a:noFill/>
        </p:spPr>
        <p:txBody>
          <a:bodyPr wrap="square" lIns="0" tIns="0" rIns="0" bIns="0" anchor="t">
            <a:spAutoFit/>
          </a:bodyPr>
          <a:lstStyle/>
          <a:p>
            <a:pPr algn="l"/>
            <a:r>
              <a:rPr sz="1100" b="1" i="0">
                <a:solidFill>
                  <a:srgbClr val="065A82"/>
                </a:solidFill>
                <a:latin typeface="Calibri"/>
              </a:rPr>
              <a:t>Time-based interpolation</a:t>
            </a:r>
          </a:p>
        </p:txBody>
      </p:sp>
      <p:sp>
        <p:nvSpPr>
          <p:cNvPr id="14" name="TextBox 13"/>
          <p:cNvSpPr txBox="1"/>
          <p:nvPr/>
        </p:nvSpPr>
        <p:spPr>
          <a:xfrm>
            <a:off x="3383279" y="4553712"/>
            <a:ext cx="2377440" cy="182880"/>
          </a:xfrm>
          <a:prstGeom prst="rect">
            <a:avLst/>
          </a:prstGeom>
          <a:noFill/>
        </p:spPr>
        <p:txBody>
          <a:bodyPr wrap="square" lIns="0" tIns="0" rIns="0" bIns="0" anchor="t">
            <a:spAutoFit/>
          </a:bodyPr>
          <a:lstStyle/>
          <a:p>
            <a:pPr algn="l"/>
            <a:r>
              <a:rPr sz="900" b="0" i="1">
                <a:solidFill>
                  <a:srgbClr val="888780"/>
                </a:solidFill>
                <a:latin typeface="Calibri"/>
              </a:rPr>
              <a:t>fills gaps smoothly</a:t>
            </a:r>
          </a:p>
        </p:txBody>
      </p:sp>
      <p:sp>
        <p:nvSpPr>
          <p:cNvPr id="15" name="Rounded Rectangle 14"/>
          <p:cNvSpPr/>
          <p:nvPr/>
        </p:nvSpPr>
        <p:spPr>
          <a:xfrm>
            <a:off x="6035040" y="4343400"/>
            <a:ext cx="2651760" cy="411480"/>
          </a:xfrm>
          <a:prstGeom prst="roundRect">
            <a:avLst>
              <a:gd name="adj" fmla="val 15000"/>
            </a:avLst>
          </a:prstGeom>
          <a:solidFill>
            <a:srgbClr val="FFFFFF"/>
          </a:solidFill>
          <a:ln w="6350">
            <a:solidFill>
              <a:srgbClr val="E2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4389120"/>
            <a:ext cx="2377440" cy="182880"/>
          </a:xfrm>
          <a:prstGeom prst="rect">
            <a:avLst/>
          </a:prstGeom>
          <a:noFill/>
        </p:spPr>
        <p:txBody>
          <a:bodyPr wrap="square" lIns="0" tIns="0" rIns="0" bIns="0" anchor="t">
            <a:spAutoFit/>
          </a:bodyPr>
          <a:lstStyle/>
          <a:p>
            <a:pPr algn="l"/>
            <a:r>
              <a:rPr sz="1100" b="1" i="0">
                <a:solidFill>
                  <a:srgbClr val="065A82"/>
                </a:solidFill>
                <a:latin typeface="Calibri"/>
              </a:rPr>
              <a:t>Min-max to [0, 1]</a:t>
            </a:r>
          </a:p>
        </p:txBody>
      </p:sp>
      <p:sp>
        <p:nvSpPr>
          <p:cNvPr id="17" name="TextBox 16"/>
          <p:cNvSpPr txBox="1"/>
          <p:nvPr/>
        </p:nvSpPr>
        <p:spPr>
          <a:xfrm>
            <a:off x="6172200" y="4553712"/>
            <a:ext cx="2377440" cy="182880"/>
          </a:xfrm>
          <a:prstGeom prst="rect">
            <a:avLst/>
          </a:prstGeom>
          <a:noFill/>
        </p:spPr>
        <p:txBody>
          <a:bodyPr wrap="square" lIns="0" tIns="0" rIns="0" bIns="0" anchor="t">
            <a:spAutoFit/>
          </a:bodyPr>
          <a:lstStyle/>
          <a:p>
            <a:pPr algn="l"/>
            <a:r>
              <a:rPr sz="900" b="0" i="1">
                <a:solidFill>
                  <a:srgbClr val="888780"/>
                </a:solidFill>
                <a:latin typeface="Calibri"/>
              </a:rPr>
              <a:t>ready for PCM encoder</a:t>
            </a:r>
          </a:p>
        </p:txBody>
      </p:sp>
      <p:sp>
        <p:nvSpPr>
          <p:cNvPr id="19" name="Text 2">
            <a:extLst>
              <a:ext uri="{FF2B5EF4-FFF2-40B4-BE49-F238E27FC236}">
                <a16:creationId xmlns:a16="http://schemas.microsoft.com/office/drawing/2014/main" id="{55309BD9-A81E-B672-3E29-808800AE5604}"/>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8229600" cy="548640"/>
          </a:xfrm>
          <a:prstGeom prst="rect">
            <a:avLst/>
          </a:prstGeom>
          <a:noFill/>
        </p:spPr>
        <p:txBody>
          <a:bodyPr wrap="square" lIns="0" tIns="0" rIns="0" bIns="0" anchor="t">
            <a:spAutoFit/>
          </a:bodyPr>
          <a:lstStyle/>
          <a:p>
            <a:pPr algn="l"/>
            <a:r>
              <a:rPr sz="2600" b="1" i="0">
                <a:solidFill>
                  <a:srgbClr val="0A2540"/>
                </a:solidFill>
                <a:latin typeface="Calibri"/>
              </a:rPr>
              <a:t>Signal Processing  —  Nyquist Verification &amp; PSD</a:t>
            </a:r>
          </a:p>
        </p:txBody>
      </p:sp>
      <p:sp>
        <p:nvSpPr>
          <p:cNvPr id="3" name="Rectangle 2"/>
          <p:cNvSpPr/>
          <p:nvPr/>
        </p:nvSpPr>
        <p:spPr>
          <a:xfrm>
            <a:off x="457200" y="804672"/>
            <a:ext cx="8229600" cy="22860"/>
          </a:xfrm>
          <a:prstGeom prst="rect">
            <a:avLst/>
          </a:prstGeom>
          <a:solidFill>
            <a:srgbClr val="E2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nyquist_visual.png"/>
          <p:cNvPicPr>
            <a:picLocks noChangeAspect="1"/>
          </p:cNvPicPr>
          <p:nvPr/>
        </p:nvPicPr>
        <p:blipFill>
          <a:blip r:embed="rId2"/>
          <a:stretch>
            <a:fillRect/>
          </a:stretch>
        </p:blipFill>
        <p:spPr>
          <a:xfrm>
            <a:off x="320040" y="1005840"/>
            <a:ext cx="5760720" cy="2906545"/>
          </a:xfrm>
          <a:prstGeom prst="rect">
            <a:avLst/>
          </a:prstGeom>
        </p:spPr>
      </p:pic>
      <p:sp>
        <p:nvSpPr>
          <p:cNvPr id="5" name="Rounded Rectangle 4"/>
          <p:cNvSpPr/>
          <p:nvPr/>
        </p:nvSpPr>
        <p:spPr>
          <a:xfrm>
            <a:off x="6355080" y="1005840"/>
            <a:ext cx="2468880" cy="822960"/>
          </a:xfrm>
          <a:prstGeom prst="roundRect">
            <a:avLst>
              <a:gd name="adj" fmla="val 10000"/>
            </a:avLst>
          </a:prstGeom>
          <a:solidFill>
            <a:srgbClr val="FFFFFF"/>
          </a:solidFill>
          <a:ln w="6350">
            <a:solidFill>
              <a:srgbClr val="E2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37960" y="1078992"/>
            <a:ext cx="2103120" cy="228600"/>
          </a:xfrm>
          <a:prstGeom prst="rect">
            <a:avLst/>
          </a:prstGeom>
          <a:noFill/>
        </p:spPr>
        <p:txBody>
          <a:bodyPr wrap="square" lIns="0" tIns="0" rIns="0" bIns="0" anchor="t">
            <a:spAutoFit/>
          </a:bodyPr>
          <a:lstStyle/>
          <a:p>
            <a:pPr algn="l"/>
            <a:r>
              <a:rPr sz="900" b="1" i="0">
                <a:solidFill>
                  <a:srgbClr val="888780"/>
                </a:solidFill>
                <a:latin typeface="Calibri"/>
              </a:rPr>
              <a:t>Sampling frequency</a:t>
            </a:r>
          </a:p>
        </p:txBody>
      </p:sp>
      <p:sp>
        <p:nvSpPr>
          <p:cNvPr id="7" name="TextBox 6"/>
          <p:cNvSpPr txBox="1"/>
          <p:nvPr/>
        </p:nvSpPr>
        <p:spPr>
          <a:xfrm>
            <a:off x="6537960" y="1298448"/>
            <a:ext cx="2103120" cy="320040"/>
          </a:xfrm>
          <a:prstGeom prst="rect">
            <a:avLst/>
          </a:prstGeom>
          <a:noFill/>
        </p:spPr>
        <p:txBody>
          <a:bodyPr wrap="square" lIns="0" tIns="0" rIns="0" bIns="0" anchor="t">
            <a:spAutoFit/>
          </a:bodyPr>
          <a:lstStyle/>
          <a:p>
            <a:pPr algn="l"/>
            <a:r>
              <a:rPr sz="1400" b="1" i="0">
                <a:solidFill>
                  <a:srgbClr val="065A82"/>
                </a:solidFill>
                <a:latin typeface="Calibri"/>
              </a:rPr>
              <a:t>fs = 5.56 × 10⁻⁴ Hz</a:t>
            </a:r>
          </a:p>
        </p:txBody>
      </p:sp>
      <p:sp>
        <p:nvSpPr>
          <p:cNvPr id="8" name="TextBox 7"/>
          <p:cNvSpPr txBox="1"/>
          <p:nvPr/>
        </p:nvSpPr>
        <p:spPr>
          <a:xfrm>
            <a:off x="6537960" y="1591056"/>
            <a:ext cx="2103120" cy="201168"/>
          </a:xfrm>
          <a:prstGeom prst="rect">
            <a:avLst/>
          </a:prstGeom>
          <a:noFill/>
        </p:spPr>
        <p:txBody>
          <a:bodyPr wrap="square" lIns="0" tIns="0" rIns="0" bIns="0" anchor="t">
            <a:spAutoFit/>
          </a:bodyPr>
          <a:lstStyle/>
          <a:p>
            <a:pPr algn="l"/>
            <a:r>
              <a:rPr sz="900" b="0" i="1">
                <a:solidFill>
                  <a:srgbClr val="888780"/>
                </a:solidFill>
                <a:latin typeface="Calibri"/>
              </a:rPr>
              <a:t>one sample every 30 min</a:t>
            </a:r>
          </a:p>
        </p:txBody>
      </p:sp>
      <p:sp>
        <p:nvSpPr>
          <p:cNvPr id="9" name="Rounded Rectangle 8"/>
          <p:cNvSpPr/>
          <p:nvPr/>
        </p:nvSpPr>
        <p:spPr>
          <a:xfrm>
            <a:off x="6355080" y="1920240"/>
            <a:ext cx="2468880" cy="822960"/>
          </a:xfrm>
          <a:prstGeom prst="roundRect">
            <a:avLst>
              <a:gd name="adj" fmla="val 10000"/>
            </a:avLst>
          </a:prstGeom>
          <a:solidFill>
            <a:srgbClr val="FFFFFF"/>
          </a:solidFill>
          <a:ln w="6350">
            <a:solidFill>
              <a:srgbClr val="E2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993392"/>
            <a:ext cx="2103120" cy="228600"/>
          </a:xfrm>
          <a:prstGeom prst="rect">
            <a:avLst/>
          </a:prstGeom>
          <a:noFill/>
        </p:spPr>
        <p:txBody>
          <a:bodyPr wrap="square" lIns="0" tIns="0" rIns="0" bIns="0" anchor="t">
            <a:spAutoFit/>
          </a:bodyPr>
          <a:lstStyle/>
          <a:p>
            <a:pPr algn="l"/>
            <a:r>
              <a:rPr sz="900" b="1" i="0">
                <a:solidFill>
                  <a:srgbClr val="888780"/>
                </a:solidFill>
                <a:latin typeface="Calibri"/>
              </a:rPr>
              <a:t>Dominant signal frequency</a:t>
            </a:r>
          </a:p>
        </p:txBody>
      </p:sp>
      <p:sp>
        <p:nvSpPr>
          <p:cNvPr id="11" name="TextBox 10"/>
          <p:cNvSpPr txBox="1"/>
          <p:nvPr/>
        </p:nvSpPr>
        <p:spPr>
          <a:xfrm>
            <a:off x="6537960" y="2212848"/>
            <a:ext cx="2103120" cy="320040"/>
          </a:xfrm>
          <a:prstGeom prst="rect">
            <a:avLst/>
          </a:prstGeom>
          <a:noFill/>
        </p:spPr>
        <p:txBody>
          <a:bodyPr wrap="square" lIns="0" tIns="0" rIns="0" bIns="0" anchor="t">
            <a:spAutoFit/>
          </a:bodyPr>
          <a:lstStyle/>
          <a:p>
            <a:pPr algn="l"/>
            <a:r>
              <a:rPr sz="1400" b="1" i="0">
                <a:solidFill>
                  <a:srgbClr val="065A82"/>
                </a:solidFill>
                <a:latin typeface="Calibri"/>
              </a:rPr>
              <a:t>f_m = 1.16 × 10⁻⁵ Hz</a:t>
            </a:r>
          </a:p>
        </p:txBody>
      </p:sp>
      <p:sp>
        <p:nvSpPr>
          <p:cNvPr id="12" name="TextBox 11"/>
          <p:cNvSpPr txBox="1"/>
          <p:nvPr/>
        </p:nvSpPr>
        <p:spPr>
          <a:xfrm>
            <a:off x="6537960" y="2505456"/>
            <a:ext cx="2103120" cy="201168"/>
          </a:xfrm>
          <a:prstGeom prst="rect">
            <a:avLst/>
          </a:prstGeom>
          <a:noFill/>
        </p:spPr>
        <p:txBody>
          <a:bodyPr wrap="square" lIns="0" tIns="0" rIns="0" bIns="0" anchor="t">
            <a:spAutoFit/>
          </a:bodyPr>
          <a:lstStyle/>
          <a:p>
            <a:pPr algn="l"/>
            <a:r>
              <a:rPr sz="900" b="0" i="1">
                <a:solidFill>
                  <a:srgbClr val="888780"/>
                </a:solidFill>
                <a:latin typeface="Calibri"/>
              </a:rPr>
              <a:t>24-hour diurnal cycle</a:t>
            </a:r>
          </a:p>
        </p:txBody>
      </p:sp>
      <p:sp>
        <p:nvSpPr>
          <p:cNvPr id="13" name="Rounded Rectangle 12"/>
          <p:cNvSpPr/>
          <p:nvPr/>
        </p:nvSpPr>
        <p:spPr>
          <a:xfrm>
            <a:off x="6355080" y="2834640"/>
            <a:ext cx="2468880" cy="822960"/>
          </a:xfrm>
          <a:prstGeom prst="roundRect">
            <a:avLst>
              <a:gd name="adj" fmla="val 10000"/>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2907792"/>
            <a:ext cx="2103120" cy="228600"/>
          </a:xfrm>
          <a:prstGeom prst="rect">
            <a:avLst/>
          </a:prstGeom>
          <a:noFill/>
        </p:spPr>
        <p:txBody>
          <a:bodyPr wrap="square" lIns="0" tIns="0" rIns="0" bIns="0" anchor="t">
            <a:spAutoFit/>
          </a:bodyPr>
          <a:lstStyle/>
          <a:p>
            <a:pPr algn="l"/>
            <a:r>
              <a:rPr sz="900" b="1" i="0">
                <a:solidFill>
                  <a:srgbClr val="065A82"/>
                </a:solidFill>
                <a:latin typeface="Calibri"/>
              </a:rPr>
              <a:t>Nyquist margin</a:t>
            </a:r>
          </a:p>
        </p:txBody>
      </p:sp>
      <p:sp>
        <p:nvSpPr>
          <p:cNvPr id="15" name="TextBox 14"/>
          <p:cNvSpPr txBox="1"/>
          <p:nvPr/>
        </p:nvSpPr>
        <p:spPr>
          <a:xfrm>
            <a:off x="6537960" y="3127248"/>
            <a:ext cx="2103120" cy="320040"/>
          </a:xfrm>
          <a:prstGeom prst="rect">
            <a:avLst/>
          </a:prstGeom>
          <a:noFill/>
        </p:spPr>
        <p:txBody>
          <a:bodyPr wrap="square" lIns="0" tIns="0" rIns="0" bIns="0" anchor="t">
            <a:spAutoFit/>
          </a:bodyPr>
          <a:lstStyle/>
          <a:p>
            <a:pPr algn="l"/>
            <a:r>
              <a:rPr sz="1600" b="1" i="0">
                <a:solidFill>
                  <a:srgbClr val="065A82"/>
                </a:solidFill>
                <a:latin typeface="Calibri"/>
              </a:rPr>
              <a:t>×24  over  2·f_m</a:t>
            </a:r>
          </a:p>
        </p:txBody>
      </p:sp>
      <p:sp>
        <p:nvSpPr>
          <p:cNvPr id="16" name="TextBox 15"/>
          <p:cNvSpPr txBox="1"/>
          <p:nvPr/>
        </p:nvSpPr>
        <p:spPr>
          <a:xfrm>
            <a:off x="6537960" y="3419856"/>
            <a:ext cx="2103120" cy="201168"/>
          </a:xfrm>
          <a:prstGeom prst="rect">
            <a:avLst/>
          </a:prstGeom>
          <a:noFill/>
        </p:spPr>
        <p:txBody>
          <a:bodyPr wrap="square" lIns="0" tIns="0" rIns="0" bIns="0" anchor="t">
            <a:spAutoFit/>
          </a:bodyPr>
          <a:lstStyle/>
          <a:p>
            <a:pPr algn="l"/>
            <a:r>
              <a:rPr sz="900" b="0" i="1">
                <a:solidFill>
                  <a:srgbClr val="065A82"/>
                </a:solidFill>
                <a:latin typeface="Calibri"/>
              </a:rPr>
              <a:t>no aliasing, no filter needed</a:t>
            </a:r>
          </a:p>
        </p:txBody>
      </p:sp>
      <p:sp>
        <p:nvSpPr>
          <p:cNvPr id="17" name="Rectangle 16"/>
          <p:cNvSpPr/>
          <p:nvPr/>
        </p:nvSpPr>
        <p:spPr>
          <a:xfrm>
            <a:off x="365760" y="4160520"/>
            <a:ext cx="8412480" cy="6858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233672"/>
            <a:ext cx="8046720" cy="274320"/>
          </a:xfrm>
          <a:prstGeom prst="rect">
            <a:avLst/>
          </a:prstGeom>
          <a:noFill/>
        </p:spPr>
        <p:txBody>
          <a:bodyPr wrap="square" lIns="0" tIns="0" rIns="0" bIns="0" anchor="t">
            <a:spAutoFit/>
          </a:bodyPr>
          <a:lstStyle/>
          <a:p>
            <a:pPr algn="l"/>
            <a:r>
              <a:rPr sz="1200" b="1" i="0">
                <a:solidFill>
                  <a:srgbClr val="02C39A"/>
                </a:solidFill>
                <a:latin typeface="Calibri"/>
              </a:rPr>
              <a:t>PSD Analysis — Welch's method  (scipy.signal.welch)</a:t>
            </a:r>
          </a:p>
        </p:txBody>
      </p:sp>
      <p:sp>
        <p:nvSpPr>
          <p:cNvPr id="19" name="TextBox 18"/>
          <p:cNvSpPr txBox="1"/>
          <p:nvPr/>
        </p:nvSpPr>
        <p:spPr>
          <a:xfrm>
            <a:off x="548640" y="4480560"/>
            <a:ext cx="8046720" cy="274320"/>
          </a:xfrm>
          <a:prstGeom prst="rect">
            <a:avLst/>
          </a:prstGeom>
          <a:noFill/>
        </p:spPr>
        <p:txBody>
          <a:bodyPr wrap="square" lIns="0" tIns="0" rIns="0" bIns="0" anchor="t">
            <a:spAutoFit/>
          </a:bodyPr>
          <a:lstStyle/>
          <a:p>
            <a:pPr algn="l"/>
            <a:r>
              <a:rPr sz="1100" b="0" i="0">
                <a:solidFill>
                  <a:srgbClr val="E2EDF5"/>
                </a:solidFill>
                <a:latin typeface="Calibri"/>
              </a:rPr>
              <a:t>Signal energy is concentrated at very low frequencies only (DC + diurnal peak)  —  confirms empirically that aliasing is not a concern.</a:t>
            </a:r>
          </a:p>
        </p:txBody>
      </p:sp>
      <p:sp>
        <p:nvSpPr>
          <p:cNvPr id="21" name="Text 2">
            <a:extLst>
              <a:ext uri="{FF2B5EF4-FFF2-40B4-BE49-F238E27FC236}">
                <a16:creationId xmlns:a16="http://schemas.microsoft.com/office/drawing/2014/main" id="{7A29720A-98DD-191C-6E36-0471E6D5F03B}"/>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PCM Encoding &amp; BPSK Modulation</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384048" y="804672"/>
            <a:ext cx="4160520" cy="413308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6" name="Shape 4"/>
          <p:cNvSpPr/>
          <p:nvPr/>
        </p:nvSpPr>
        <p:spPr>
          <a:xfrm>
            <a:off x="384048" y="804672"/>
            <a:ext cx="4160520" cy="384048"/>
          </a:xfrm>
          <a:prstGeom prst="rect">
            <a:avLst/>
          </a:prstGeom>
          <a:solidFill>
            <a:srgbClr val="065A82"/>
          </a:solidFill>
          <a:ln w="12700">
            <a:solidFill>
              <a:srgbClr val="065A82"/>
            </a:solidFill>
            <a:prstDash val="solid"/>
          </a:ln>
        </p:spPr>
        <p:txBody>
          <a:bodyPr/>
          <a:lstStyle/>
          <a:p>
            <a:endParaRPr lang="en-BW"/>
          </a:p>
        </p:txBody>
      </p:sp>
      <p:sp>
        <p:nvSpPr>
          <p:cNvPr id="7" name="Text 5"/>
          <p:cNvSpPr/>
          <p:nvPr/>
        </p:nvSpPr>
        <p:spPr>
          <a:xfrm>
            <a:off x="502920" y="850392"/>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Stage 3 — PCM Encoding</a:t>
            </a:r>
            <a:endParaRPr lang="en-US" sz="1300" dirty="0"/>
          </a:p>
        </p:txBody>
      </p:sp>
      <p:sp>
        <p:nvSpPr>
          <p:cNvPr id="8" name="Text 6"/>
          <p:cNvSpPr/>
          <p:nvPr/>
        </p:nvSpPr>
        <p:spPr>
          <a:xfrm>
            <a:off x="548640" y="1298448"/>
            <a:ext cx="18288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8-bit quantisation</a:t>
            </a:r>
            <a:endParaRPr lang="en-US" sz="1000" dirty="0"/>
          </a:p>
        </p:txBody>
      </p:sp>
      <p:sp>
        <p:nvSpPr>
          <p:cNvPr id="9" name="Text 7"/>
          <p:cNvSpPr/>
          <p:nvPr/>
        </p:nvSpPr>
        <p:spPr>
          <a:xfrm>
            <a:off x="548640" y="1536192"/>
            <a:ext cx="347472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L = 2⁸ = 256 levels</a:t>
            </a:r>
            <a:endParaRPr lang="en-US" sz="1000" dirty="0"/>
          </a:p>
        </p:txBody>
      </p:sp>
      <p:sp>
        <p:nvSpPr>
          <p:cNvPr id="10" name="Text 8"/>
          <p:cNvSpPr/>
          <p:nvPr/>
        </p:nvSpPr>
        <p:spPr>
          <a:xfrm>
            <a:off x="548640" y="1737360"/>
            <a:ext cx="18288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Step size</a:t>
            </a:r>
            <a:endParaRPr lang="en-US" sz="1000" dirty="0"/>
          </a:p>
        </p:txBody>
      </p:sp>
      <p:sp>
        <p:nvSpPr>
          <p:cNvPr id="11" name="Text 9"/>
          <p:cNvSpPr/>
          <p:nvPr/>
        </p:nvSpPr>
        <p:spPr>
          <a:xfrm>
            <a:off x="548640" y="1975104"/>
            <a:ext cx="347472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Δ = (x_max − x_min) / 255</a:t>
            </a:r>
            <a:endParaRPr lang="en-US" sz="1000" dirty="0"/>
          </a:p>
        </p:txBody>
      </p:sp>
      <p:sp>
        <p:nvSpPr>
          <p:cNvPr id="12" name="Text 10"/>
          <p:cNvSpPr/>
          <p:nvPr/>
        </p:nvSpPr>
        <p:spPr>
          <a:xfrm>
            <a:off x="548640" y="2176272"/>
            <a:ext cx="18288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SQNR</a:t>
            </a:r>
            <a:endParaRPr lang="en-US" sz="1000" dirty="0"/>
          </a:p>
        </p:txBody>
      </p:sp>
      <p:sp>
        <p:nvSpPr>
          <p:cNvPr id="13" name="Text 11"/>
          <p:cNvSpPr/>
          <p:nvPr/>
        </p:nvSpPr>
        <p:spPr>
          <a:xfrm>
            <a:off x="548640" y="2414016"/>
            <a:ext cx="347472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6.02 × 8 + 1.76 = 49.9 dB</a:t>
            </a:r>
            <a:endParaRPr lang="en-US" sz="1000" dirty="0"/>
          </a:p>
        </p:txBody>
      </p:sp>
      <p:sp>
        <p:nvSpPr>
          <p:cNvPr id="14" name="Text 12"/>
          <p:cNvSpPr/>
          <p:nvPr/>
        </p:nvSpPr>
        <p:spPr>
          <a:xfrm>
            <a:off x="548640" y="2615184"/>
            <a:ext cx="18288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NRZ line coding</a:t>
            </a:r>
            <a:endParaRPr lang="en-US" sz="1000" dirty="0"/>
          </a:p>
        </p:txBody>
      </p:sp>
      <p:sp>
        <p:nvSpPr>
          <p:cNvPr id="15" name="Text 13"/>
          <p:cNvSpPr/>
          <p:nvPr/>
        </p:nvSpPr>
        <p:spPr>
          <a:xfrm>
            <a:off x="548640" y="2852928"/>
            <a:ext cx="347472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bit 1 → +1,  bit 0 → −1</a:t>
            </a:r>
            <a:endParaRPr lang="en-US" sz="1000" dirty="0"/>
          </a:p>
        </p:txBody>
      </p:sp>
      <p:pic>
        <p:nvPicPr>
          <p:cNvPr id="16" name="Image 0" descr="preencoded.png"/>
          <p:cNvPicPr>
            <a:picLocks noChangeAspect="1"/>
          </p:cNvPicPr>
          <p:nvPr/>
        </p:nvPicPr>
        <p:blipFill>
          <a:blip r:embed="rId3"/>
          <a:srcRect/>
          <a:stretch/>
        </p:blipFill>
        <p:spPr>
          <a:xfrm>
            <a:off x="457200" y="3127248"/>
            <a:ext cx="3931920" cy="1508760"/>
          </a:xfrm>
          <a:prstGeom prst="rect">
            <a:avLst/>
          </a:prstGeom>
        </p:spPr>
      </p:pic>
      <p:sp>
        <p:nvSpPr>
          <p:cNvPr id="17" name="Shape 14"/>
          <p:cNvSpPr/>
          <p:nvPr/>
        </p:nvSpPr>
        <p:spPr>
          <a:xfrm>
            <a:off x="4709160" y="804672"/>
            <a:ext cx="4041648" cy="413308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8" name="Shape 15"/>
          <p:cNvSpPr/>
          <p:nvPr/>
        </p:nvSpPr>
        <p:spPr>
          <a:xfrm>
            <a:off x="4709160" y="804672"/>
            <a:ext cx="4041648" cy="384048"/>
          </a:xfrm>
          <a:prstGeom prst="rect">
            <a:avLst/>
          </a:prstGeom>
          <a:solidFill>
            <a:srgbClr val="1C7293"/>
          </a:solidFill>
          <a:ln w="12700">
            <a:solidFill>
              <a:srgbClr val="1C7293"/>
            </a:solidFill>
            <a:prstDash val="solid"/>
          </a:ln>
        </p:spPr>
        <p:txBody>
          <a:bodyPr/>
          <a:lstStyle/>
          <a:p>
            <a:endParaRPr lang="en-BW"/>
          </a:p>
        </p:txBody>
      </p:sp>
      <p:sp>
        <p:nvSpPr>
          <p:cNvPr id="19" name="Text 16"/>
          <p:cNvSpPr/>
          <p:nvPr/>
        </p:nvSpPr>
        <p:spPr>
          <a:xfrm>
            <a:off x="4828032" y="850392"/>
            <a:ext cx="38404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Stage 4 — BPSK Modulation</a:t>
            </a:r>
            <a:endParaRPr lang="en-US" sz="1300" dirty="0"/>
          </a:p>
        </p:txBody>
      </p:sp>
      <p:sp>
        <p:nvSpPr>
          <p:cNvPr id="20" name="Text 17"/>
          <p:cNvSpPr/>
          <p:nvPr/>
        </p:nvSpPr>
        <p:spPr>
          <a:xfrm>
            <a:off x="4828032" y="1298448"/>
            <a:ext cx="1645920" cy="256032"/>
          </a:xfrm>
          <a:prstGeom prst="rect">
            <a:avLst/>
          </a:prstGeom>
          <a:noFill/>
          <a:ln/>
        </p:spPr>
        <p:txBody>
          <a:bodyPr wrap="square" lIns="0" tIns="0" rIns="0" bIns="0" rtlCol="0" anchor="ctr"/>
          <a:lstStyle/>
          <a:p>
            <a:pPr marL="0" indent="0">
              <a:buNone/>
            </a:pPr>
            <a:r>
              <a:rPr lang="en-US" sz="1000" b="1" dirty="0">
                <a:solidFill>
                  <a:srgbClr val="1C7293"/>
                </a:solidFill>
                <a:latin typeface="Calibri" pitchFamily="34" charset="0"/>
                <a:ea typeface="Calibri" pitchFamily="34" charset="-122"/>
                <a:cs typeface="Calibri" pitchFamily="34" charset="-120"/>
              </a:rPr>
              <a:t>Symbol mapping</a:t>
            </a:r>
            <a:endParaRPr lang="en-US" sz="1000" dirty="0"/>
          </a:p>
        </p:txBody>
      </p:sp>
      <p:sp>
        <p:nvSpPr>
          <p:cNvPr id="21" name="Text 18"/>
          <p:cNvSpPr/>
          <p:nvPr/>
        </p:nvSpPr>
        <p:spPr>
          <a:xfrm>
            <a:off x="4828032" y="1536192"/>
            <a:ext cx="374904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bit 1 → +1  (0° phase)</a:t>
            </a:r>
            <a:endParaRPr lang="en-US" sz="1000" dirty="0"/>
          </a:p>
        </p:txBody>
      </p:sp>
      <p:sp>
        <p:nvSpPr>
          <p:cNvPr id="22" name="Text 19"/>
          <p:cNvSpPr/>
          <p:nvPr/>
        </p:nvSpPr>
        <p:spPr>
          <a:xfrm>
            <a:off x="4828032" y="1737360"/>
            <a:ext cx="1645920" cy="256032"/>
          </a:xfrm>
          <a:prstGeom prst="rect">
            <a:avLst/>
          </a:prstGeom>
          <a:noFill/>
          <a:ln/>
        </p:spPr>
        <p:txBody>
          <a:bodyPr wrap="square" lIns="0" tIns="0" rIns="0" bIns="0" rtlCol="0" anchor="ctr"/>
          <a:lstStyle/>
          <a:p>
            <a:pPr marL="0" indent="0">
              <a:buNone/>
            </a:pPr>
            <a:r>
              <a:rPr lang="en-US" sz="1000" b="1" dirty="0">
                <a:solidFill>
                  <a:srgbClr val="1C7293"/>
                </a:solidFill>
                <a:latin typeface="Calibri" pitchFamily="34" charset="0"/>
                <a:ea typeface="Calibri" pitchFamily="34" charset="-122"/>
                <a:cs typeface="Calibri" pitchFamily="34" charset="-120"/>
              </a:rPr>
              <a:t>Symbol mapping</a:t>
            </a:r>
            <a:endParaRPr lang="en-US" sz="1000" dirty="0"/>
          </a:p>
        </p:txBody>
      </p:sp>
      <p:sp>
        <p:nvSpPr>
          <p:cNvPr id="23" name="Text 20"/>
          <p:cNvSpPr/>
          <p:nvPr/>
        </p:nvSpPr>
        <p:spPr>
          <a:xfrm>
            <a:off x="4828032" y="1975104"/>
            <a:ext cx="374904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bit 0 → −1  (180° phase)</a:t>
            </a:r>
            <a:endParaRPr lang="en-US" sz="1000" dirty="0"/>
          </a:p>
        </p:txBody>
      </p:sp>
      <p:sp>
        <p:nvSpPr>
          <p:cNvPr id="24" name="Text 21"/>
          <p:cNvSpPr/>
          <p:nvPr/>
        </p:nvSpPr>
        <p:spPr>
          <a:xfrm>
            <a:off x="4828032" y="2176272"/>
            <a:ext cx="1645920" cy="256032"/>
          </a:xfrm>
          <a:prstGeom prst="rect">
            <a:avLst/>
          </a:prstGeom>
          <a:noFill/>
          <a:ln/>
        </p:spPr>
        <p:txBody>
          <a:bodyPr wrap="square" lIns="0" tIns="0" rIns="0" bIns="0" rtlCol="0" anchor="ctr"/>
          <a:lstStyle/>
          <a:p>
            <a:pPr marL="0" indent="0">
              <a:buNone/>
            </a:pPr>
            <a:r>
              <a:rPr lang="en-US" sz="1000" b="1" dirty="0">
                <a:solidFill>
                  <a:srgbClr val="1C7293"/>
                </a:solidFill>
                <a:latin typeface="Calibri" pitchFamily="34" charset="0"/>
                <a:ea typeface="Calibri" pitchFamily="34" charset="-122"/>
                <a:cs typeface="Calibri" pitchFamily="34" charset="-120"/>
              </a:rPr>
              <a:t>Why BPSK?</a:t>
            </a:r>
            <a:endParaRPr lang="en-US" sz="1000" dirty="0"/>
          </a:p>
        </p:txBody>
      </p:sp>
      <p:sp>
        <p:nvSpPr>
          <p:cNvPr id="25" name="Text 22"/>
          <p:cNvSpPr/>
          <p:nvPr/>
        </p:nvSpPr>
        <p:spPr>
          <a:xfrm>
            <a:off x="4828032" y="2414016"/>
            <a:ext cx="374904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Lowest BER among binary schemes</a:t>
            </a:r>
            <a:endParaRPr lang="en-US" sz="1000" dirty="0"/>
          </a:p>
        </p:txBody>
      </p:sp>
      <p:sp>
        <p:nvSpPr>
          <p:cNvPr id="26" name="Text 23"/>
          <p:cNvSpPr/>
          <p:nvPr/>
        </p:nvSpPr>
        <p:spPr>
          <a:xfrm>
            <a:off x="4828032" y="2615184"/>
            <a:ext cx="1645920" cy="256032"/>
          </a:xfrm>
          <a:prstGeom prst="rect">
            <a:avLst/>
          </a:prstGeom>
          <a:noFill/>
          <a:ln/>
        </p:spPr>
        <p:txBody>
          <a:bodyPr wrap="square" lIns="0" tIns="0" rIns="0" bIns="0" rtlCol="0" anchor="ctr"/>
          <a:lstStyle/>
          <a:p>
            <a:pPr marL="0" indent="0">
              <a:buNone/>
            </a:pPr>
            <a:r>
              <a:rPr lang="en-US" sz="1000" b="1" dirty="0">
                <a:solidFill>
                  <a:srgbClr val="1C7293"/>
                </a:solidFill>
                <a:latin typeface="Calibri" pitchFamily="34" charset="0"/>
                <a:ea typeface="Calibri" pitchFamily="34" charset="-122"/>
                <a:cs typeface="Calibri" pitchFamily="34" charset="-120"/>
              </a:rPr>
              <a:t>Noise resilience</a:t>
            </a:r>
            <a:endParaRPr lang="en-US" sz="1000" dirty="0"/>
          </a:p>
        </p:txBody>
      </p:sp>
      <p:sp>
        <p:nvSpPr>
          <p:cNvPr id="27" name="Text 24"/>
          <p:cNvSpPr/>
          <p:nvPr/>
        </p:nvSpPr>
        <p:spPr>
          <a:xfrm>
            <a:off x="4828032" y="2852928"/>
            <a:ext cx="3749040" cy="219456"/>
          </a:xfrm>
          <a:prstGeom prst="rect">
            <a:avLst/>
          </a:prstGeom>
          <a:noFill/>
          <a:ln/>
        </p:spPr>
        <p:txBody>
          <a:bodyPr wrap="square" lIns="0" tIns="0" rIns="0" bIns="0" rtlCol="0" anchor="ctr"/>
          <a:lstStyle/>
          <a:p>
            <a:pPr marL="0" indent="0">
              <a:buNone/>
            </a:pPr>
            <a:r>
              <a:rPr lang="en-US" sz="1000" i="1" dirty="0">
                <a:solidFill>
                  <a:srgbClr val="0A2540"/>
                </a:solidFill>
                <a:latin typeface="Calibri" pitchFamily="34" charset="0"/>
                <a:ea typeface="Calibri" pitchFamily="34" charset="-122"/>
                <a:cs typeface="Calibri" pitchFamily="34" charset="-120"/>
              </a:rPr>
              <a:t>Phase-encoded: robust vs ASK</a:t>
            </a:r>
            <a:endParaRPr lang="en-US" sz="1000" dirty="0"/>
          </a:p>
        </p:txBody>
      </p:sp>
      <p:sp>
        <p:nvSpPr>
          <p:cNvPr id="28" name="Shape 25"/>
          <p:cNvSpPr/>
          <p:nvPr/>
        </p:nvSpPr>
        <p:spPr>
          <a:xfrm>
            <a:off x="4800600" y="3127248"/>
            <a:ext cx="3858768" cy="475488"/>
          </a:xfrm>
          <a:prstGeom prst="rect">
            <a:avLst/>
          </a:prstGeom>
          <a:solidFill>
            <a:srgbClr val="0D1117"/>
          </a:solidFill>
          <a:ln w="12700">
            <a:solidFill>
              <a:srgbClr val="1C7293"/>
            </a:solidFill>
            <a:prstDash val="solid"/>
          </a:ln>
        </p:spPr>
        <p:txBody>
          <a:bodyPr/>
          <a:lstStyle/>
          <a:p>
            <a:endParaRPr lang="en-BW"/>
          </a:p>
        </p:txBody>
      </p:sp>
      <p:sp>
        <p:nvSpPr>
          <p:cNvPr id="29" name="Text 26"/>
          <p:cNvSpPr/>
          <p:nvPr/>
        </p:nvSpPr>
        <p:spPr>
          <a:xfrm>
            <a:off x="4892040" y="3200400"/>
            <a:ext cx="3657600" cy="32004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BER_BPSK = Q( √(2 · SNR_linear) )</a:t>
            </a:r>
            <a:endParaRPr lang="en-US" sz="1000" dirty="0"/>
          </a:p>
        </p:txBody>
      </p:sp>
      <p:sp>
        <p:nvSpPr>
          <p:cNvPr id="30" name="Shape 27"/>
          <p:cNvSpPr/>
          <p:nvPr/>
        </p:nvSpPr>
        <p:spPr>
          <a:xfrm>
            <a:off x="4800600" y="3730752"/>
            <a:ext cx="3858768" cy="1097280"/>
          </a:xfrm>
          <a:prstGeom prst="rect">
            <a:avLst/>
          </a:prstGeom>
          <a:solidFill>
            <a:srgbClr val="0D1117"/>
          </a:solidFill>
          <a:ln w="12700">
            <a:solidFill>
              <a:srgbClr val="1C7293"/>
            </a:solidFill>
            <a:prstDash val="solid"/>
          </a:ln>
        </p:spPr>
        <p:txBody>
          <a:bodyPr/>
          <a:lstStyle/>
          <a:p>
            <a:endParaRPr lang="en-BW"/>
          </a:p>
        </p:txBody>
      </p:sp>
      <p:sp>
        <p:nvSpPr>
          <p:cNvPr id="31" name="Shape 28"/>
          <p:cNvSpPr/>
          <p:nvPr/>
        </p:nvSpPr>
        <p:spPr>
          <a:xfrm>
            <a:off x="5486400" y="4005072"/>
            <a:ext cx="164592" cy="164592"/>
          </a:xfrm>
          <a:prstGeom prst="ellipse">
            <a:avLst/>
          </a:prstGeom>
          <a:solidFill>
            <a:srgbClr val="02C39A"/>
          </a:solidFill>
          <a:ln w="12700">
            <a:solidFill>
              <a:srgbClr val="02C39A"/>
            </a:solidFill>
            <a:prstDash val="solid"/>
          </a:ln>
        </p:spPr>
        <p:txBody>
          <a:bodyPr/>
          <a:lstStyle/>
          <a:p>
            <a:endParaRPr lang="en-BW"/>
          </a:p>
        </p:txBody>
      </p:sp>
      <p:sp>
        <p:nvSpPr>
          <p:cNvPr id="32" name="Text 29"/>
          <p:cNvSpPr/>
          <p:nvPr/>
        </p:nvSpPr>
        <p:spPr>
          <a:xfrm>
            <a:off x="5687568" y="4005072"/>
            <a:ext cx="1371600" cy="201168"/>
          </a:xfrm>
          <a:prstGeom prst="rect">
            <a:avLst/>
          </a:prstGeom>
          <a:noFill/>
          <a:ln/>
        </p:spPr>
        <p:txBody>
          <a:bodyPr wrap="square" lIns="0" tIns="0" rIns="0" bIns="0" rtlCol="0" anchor="ctr"/>
          <a:lstStyle/>
          <a:p>
            <a:pPr marL="0" indent="0">
              <a:buNone/>
            </a:pPr>
            <a:r>
              <a:rPr lang="en-US" sz="1000" dirty="0">
                <a:solidFill>
                  <a:srgbClr val="02C39A"/>
                </a:solidFill>
                <a:latin typeface="Calibri" pitchFamily="34" charset="0"/>
                <a:ea typeface="Calibri" pitchFamily="34" charset="-122"/>
                <a:cs typeface="Calibri" pitchFamily="34" charset="-120"/>
              </a:rPr>
              <a:t>+1  (bit 1)</a:t>
            </a:r>
            <a:endParaRPr lang="en-US" sz="1000" dirty="0"/>
          </a:p>
        </p:txBody>
      </p:sp>
      <p:sp>
        <p:nvSpPr>
          <p:cNvPr id="33" name="Shape 30"/>
          <p:cNvSpPr/>
          <p:nvPr/>
        </p:nvSpPr>
        <p:spPr>
          <a:xfrm>
            <a:off x="6858000" y="4315968"/>
            <a:ext cx="164592" cy="164592"/>
          </a:xfrm>
          <a:prstGeom prst="ellipse">
            <a:avLst/>
          </a:prstGeom>
          <a:solidFill>
            <a:srgbClr val="EF4444"/>
          </a:solidFill>
          <a:ln w="12700">
            <a:solidFill>
              <a:srgbClr val="EF4444"/>
            </a:solidFill>
            <a:prstDash val="solid"/>
          </a:ln>
        </p:spPr>
        <p:txBody>
          <a:bodyPr/>
          <a:lstStyle/>
          <a:p>
            <a:endParaRPr lang="en-BW"/>
          </a:p>
        </p:txBody>
      </p:sp>
      <p:sp>
        <p:nvSpPr>
          <p:cNvPr id="34" name="Text 31"/>
          <p:cNvSpPr/>
          <p:nvPr/>
        </p:nvSpPr>
        <p:spPr>
          <a:xfrm>
            <a:off x="7059168" y="4315968"/>
            <a:ext cx="1371600" cy="201168"/>
          </a:xfrm>
          <a:prstGeom prst="rect">
            <a:avLst/>
          </a:prstGeom>
          <a:noFill/>
          <a:ln/>
        </p:spPr>
        <p:txBody>
          <a:bodyPr wrap="square" lIns="0" tIns="0" rIns="0" bIns="0" rtlCol="0" anchor="ctr"/>
          <a:lstStyle/>
          <a:p>
            <a:pPr marL="0" indent="0">
              <a:buNone/>
            </a:pPr>
            <a:r>
              <a:rPr lang="en-US" sz="1000" dirty="0">
                <a:solidFill>
                  <a:srgbClr val="EF4444"/>
                </a:solidFill>
                <a:latin typeface="Calibri" pitchFamily="34" charset="0"/>
                <a:ea typeface="Calibri" pitchFamily="34" charset="-122"/>
                <a:cs typeface="Calibri" pitchFamily="34" charset="-120"/>
              </a:rPr>
              <a:t>−1  (bit 0)</a:t>
            </a:r>
            <a:endParaRPr lang="en-US" sz="1000" dirty="0"/>
          </a:p>
        </p:txBody>
      </p:sp>
      <p:sp>
        <p:nvSpPr>
          <p:cNvPr id="35" name="Shape 32"/>
          <p:cNvSpPr/>
          <p:nvPr/>
        </p:nvSpPr>
        <p:spPr>
          <a:xfrm>
            <a:off x="4937760" y="4206240"/>
            <a:ext cx="3566160" cy="0"/>
          </a:xfrm>
          <a:prstGeom prst="line">
            <a:avLst/>
          </a:prstGeom>
          <a:noFill/>
          <a:ln w="12700">
            <a:solidFill>
              <a:srgbClr val="64748B"/>
            </a:solidFill>
            <a:prstDash val="dash"/>
          </a:ln>
        </p:spPr>
        <p:txBody>
          <a:bodyPr/>
          <a:lstStyle/>
          <a:p>
            <a:endParaRPr lang="en-BW"/>
          </a:p>
        </p:txBody>
      </p:sp>
      <p:sp>
        <p:nvSpPr>
          <p:cNvPr id="36" name="Text 33"/>
          <p:cNvSpPr/>
          <p:nvPr/>
        </p:nvSpPr>
        <p:spPr>
          <a:xfrm>
            <a:off x="6035040" y="4526280"/>
            <a:ext cx="2011680" cy="201168"/>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decision boundary</a:t>
            </a:r>
            <a:endParaRPr lang="en-US" sz="900" dirty="0"/>
          </a:p>
        </p:txBody>
      </p:sp>
      <p:sp>
        <p:nvSpPr>
          <p:cNvPr id="37" name="Text 34"/>
          <p:cNvSpPr/>
          <p:nvPr/>
        </p:nvSpPr>
        <p:spPr>
          <a:xfrm>
            <a:off x="4892040" y="4754880"/>
            <a:ext cx="3657600" cy="201168"/>
          </a:xfrm>
          <a:prstGeom prst="rect">
            <a:avLst/>
          </a:prstGeom>
          <a:noFill/>
          <a:ln/>
        </p:spPr>
        <p:txBody>
          <a:bodyPr wrap="square" lIns="0" tIns="0" rIns="0" bIns="0" rtlCol="0" anchor="ctr"/>
          <a:lstStyle/>
          <a:p>
            <a:pPr marL="0" indent="0">
              <a:buNone/>
            </a:pPr>
            <a:r>
              <a:rPr lang="en-US" sz="900" dirty="0">
                <a:solidFill>
                  <a:srgbClr val="02C39A"/>
                </a:solidFill>
                <a:latin typeface="Calibri" pitchFamily="34" charset="0"/>
                <a:ea typeface="Calibri" pitchFamily="34" charset="-122"/>
                <a:cs typeface="Calibri" pitchFamily="34" charset="-120"/>
              </a:rPr>
              <a:t>BPSK constellation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AWGN Channel Model &amp; BER Analysis</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384048" y="804672"/>
            <a:ext cx="4160520" cy="411480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6" name="Shape 4"/>
          <p:cNvSpPr/>
          <p:nvPr/>
        </p:nvSpPr>
        <p:spPr>
          <a:xfrm>
            <a:off x="384048" y="804672"/>
            <a:ext cx="4160520" cy="384048"/>
          </a:xfrm>
          <a:prstGeom prst="rect">
            <a:avLst/>
          </a:prstGeom>
          <a:solidFill>
            <a:srgbClr val="1E3A5F"/>
          </a:solidFill>
          <a:ln w="12700">
            <a:solidFill>
              <a:srgbClr val="1E3A5F"/>
            </a:solidFill>
            <a:prstDash val="solid"/>
          </a:ln>
        </p:spPr>
        <p:txBody>
          <a:bodyPr/>
          <a:lstStyle/>
          <a:p>
            <a:endParaRPr lang="en-BW"/>
          </a:p>
        </p:txBody>
      </p:sp>
      <p:sp>
        <p:nvSpPr>
          <p:cNvPr id="7" name="Text 5"/>
          <p:cNvSpPr/>
          <p:nvPr/>
        </p:nvSpPr>
        <p:spPr>
          <a:xfrm>
            <a:off x="502920" y="850392"/>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Stage 5 — AWGN Channel</a:t>
            </a:r>
            <a:endParaRPr lang="en-US" sz="1300" dirty="0"/>
          </a:p>
        </p:txBody>
      </p:sp>
      <p:sp>
        <p:nvSpPr>
          <p:cNvPr id="8" name="Text 6"/>
          <p:cNvSpPr/>
          <p:nvPr/>
        </p:nvSpPr>
        <p:spPr>
          <a:xfrm>
            <a:off x="548640" y="1298448"/>
            <a:ext cx="1645920" cy="256032"/>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Received signal</a:t>
            </a:r>
            <a:endParaRPr lang="en-US" sz="1000" dirty="0"/>
          </a:p>
        </p:txBody>
      </p:sp>
      <p:sp>
        <p:nvSpPr>
          <p:cNvPr id="9" name="Text 7"/>
          <p:cNvSpPr/>
          <p:nvPr/>
        </p:nvSpPr>
        <p:spPr>
          <a:xfrm>
            <a:off x="548640" y="1536192"/>
            <a:ext cx="3474720" cy="219456"/>
          </a:xfrm>
          <a:prstGeom prst="rect">
            <a:avLst/>
          </a:prstGeom>
          <a:noFill/>
          <a:ln/>
        </p:spPr>
        <p:txBody>
          <a:bodyPr wrap="square" lIns="0" tIns="0" rIns="0" bIns="0" rtlCol="0" anchor="ctr"/>
          <a:lstStyle/>
          <a:p>
            <a:pPr marL="0" indent="0">
              <a:buNone/>
            </a:pPr>
            <a:r>
              <a:rPr lang="en-US" sz="1000" dirty="0">
                <a:solidFill>
                  <a:srgbClr val="0A2540"/>
                </a:solidFill>
                <a:latin typeface="Courier New" pitchFamily="34" charset="0"/>
                <a:ea typeface="Courier New" pitchFamily="34" charset="-122"/>
                <a:cs typeface="Courier New" pitchFamily="34" charset="-120"/>
              </a:rPr>
              <a:t>rᵢ = sᵢ + nᵢ</a:t>
            </a:r>
            <a:endParaRPr lang="en-US" sz="1000" dirty="0"/>
          </a:p>
        </p:txBody>
      </p:sp>
      <p:sp>
        <p:nvSpPr>
          <p:cNvPr id="10" name="Text 8"/>
          <p:cNvSpPr/>
          <p:nvPr/>
        </p:nvSpPr>
        <p:spPr>
          <a:xfrm>
            <a:off x="548640" y="1737360"/>
            <a:ext cx="1645920" cy="256032"/>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Noise model</a:t>
            </a:r>
            <a:endParaRPr lang="en-US" sz="1000" dirty="0"/>
          </a:p>
        </p:txBody>
      </p:sp>
      <p:sp>
        <p:nvSpPr>
          <p:cNvPr id="11" name="Text 9"/>
          <p:cNvSpPr/>
          <p:nvPr/>
        </p:nvSpPr>
        <p:spPr>
          <a:xfrm>
            <a:off x="548640" y="1975104"/>
            <a:ext cx="3474720" cy="219456"/>
          </a:xfrm>
          <a:prstGeom prst="rect">
            <a:avLst/>
          </a:prstGeom>
          <a:noFill/>
          <a:ln/>
        </p:spPr>
        <p:txBody>
          <a:bodyPr wrap="square" lIns="0" tIns="0" rIns="0" bIns="0" rtlCol="0" anchor="ctr"/>
          <a:lstStyle/>
          <a:p>
            <a:pPr marL="0" indent="0">
              <a:buNone/>
            </a:pPr>
            <a:r>
              <a:rPr lang="en-US" sz="1000" dirty="0">
                <a:solidFill>
                  <a:srgbClr val="0A2540"/>
                </a:solidFill>
                <a:latin typeface="Courier New" pitchFamily="34" charset="0"/>
                <a:ea typeface="Courier New" pitchFamily="34" charset="-122"/>
                <a:cs typeface="Courier New" pitchFamily="34" charset="-120"/>
              </a:rPr>
              <a:t>nᵢ ~ N(0, σ²)</a:t>
            </a:r>
            <a:endParaRPr lang="en-US" sz="1000" dirty="0"/>
          </a:p>
        </p:txBody>
      </p:sp>
      <p:sp>
        <p:nvSpPr>
          <p:cNvPr id="12" name="Text 10"/>
          <p:cNvSpPr/>
          <p:nvPr/>
        </p:nvSpPr>
        <p:spPr>
          <a:xfrm>
            <a:off x="548640" y="2176272"/>
            <a:ext cx="1645920" cy="256032"/>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Noise variance</a:t>
            </a:r>
            <a:endParaRPr lang="en-US" sz="1000" dirty="0"/>
          </a:p>
        </p:txBody>
      </p:sp>
      <p:sp>
        <p:nvSpPr>
          <p:cNvPr id="13" name="Text 11"/>
          <p:cNvSpPr/>
          <p:nvPr/>
        </p:nvSpPr>
        <p:spPr>
          <a:xfrm>
            <a:off x="548640" y="2414016"/>
            <a:ext cx="3474720" cy="219456"/>
          </a:xfrm>
          <a:prstGeom prst="rect">
            <a:avLst/>
          </a:prstGeom>
          <a:noFill/>
          <a:ln/>
        </p:spPr>
        <p:txBody>
          <a:bodyPr wrap="square" lIns="0" tIns="0" rIns="0" bIns="0" rtlCol="0" anchor="ctr"/>
          <a:lstStyle/>
          <a:p>
            <a:pPr marL="0" indent="0">
              <a:buNone/>
            </a:pPr>
            <a:r>
              <a:rPr lang="en-US" sz="1000" dirty="0">
                <a:solidFill>
                  <a:srgbClr val="0A2540"/>
                </a:solidFill>
                <a:latin typeface="Courier New" pitchFamily="34" charset="0"/>
                <a:ea typeface="Courier New" pitchFamily="34" charset="-122"/>
                <a:cs typeface="Courier New" pitchFamily="34" charset="-120"/>
              </a:rPr>
              <a:t>σ² = Pₛ / SNR_linear</a:t>
            </a:r>
            <a:endParaRPr lang="en-US" sz="1000" dirty="0"/>
          </a:p>
        </p:txBody>
      </p:sp>
      <p:sp>
        <p:nvSpPr>
          <p:cNvPr id="14" name="Text 12"/>
          <p:cNvSpPr/>
          <p:nvPr/>
        </p:nvSpPr>
        <p:spPr>
          <a:xfrm>
            <a:off x="548640" y="2615184"/>
            <a:ext cx="1645920" cy="256032"/>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SNR sweep</a:t>
            </a:r>
            <a:endParaRPr lang="en-US" sz="1000" dirty="0"/>
          </a:p>
        </p:txBody>
      </p:sp>
      <p:sp>
        <p:nvSpPr>
          <p:cNvPr id="15" name="Text 13"/>
          <p:cNvSpPr/>
          <p:nvPr/>
        </p:nvSpPr>
        <p:spPr>
          <a:xfrm>
            <a:off x="548640" y="2852928"/>
            <a:ext cx="3474720" cy="219456"/>
          </a:xfrm>
          <a:prstGeom prst="rect">
            <a:avLst/>
          </a:prstGeom>
          <a:noFill/>
          <a:ln/>
        </p:spPr>
        <p:txBody>
          <a:bodyPr wrap="square" lIns="0" tIns="0" rIns="0" bIns="0" rtlCol="0" anchor="ctr"/>
          <a:lstStyle/>
          <a:p>
            <a:pPr marL="0" indent="0">
              <a:buNone/>
            </a:pPr>
            <a:r>
              <a:rPr lang="en-US" sz="1000" dirty="0">
                <a:solidFill>
                  <a:srgbClr val="0A2540"/>
                </a:solidFill>
                <a:latin typeface="Courier New" pitchFamily="34" charset="0"/>
                <a:ea typeface="Courier New" pitchFamily="34" charset="-122"/>
                <a:cs typeface="Courier New" pitchFamily="34" charset="-120"/>
              </a:rPr>
              <a:t>0, 2, 4, 6, 8, 10, 12 dB</a:t>
            </a:r>
            <a:endParaRPr lang="en-US" sz="1000" dirty="0"/>
          </a:p>
        </p:txBody>
      </p:sp>
      <p:pic>
        <p:nvPicPr>
          <p:cNvPr id="16" name="Image 0" descr="preencoded.png"/>
          <p:cNvPicPr>
            <a:picLocks noChangeAspect="1"/>
          </p:cNvPicPr>
          <p:nvPr/>
        </p:nvPicPr>
        <p:blipFill>
          <a:blip r:embed="rId3"/>
          <a:srcRect/>
          <a:stretch/>
        </p:blipFill>
        <p:spPr>
          <a:xfrm>
            <a:off x="457200" y="3117088"/>
            <a:ext cx="3931920" cy="1143000"/>
          </a:xfrm>
          <a:prstGeom prst="rect">
            <a:avLst/>
          </a:prstGeom>
        </p:spPr>
      </p:pic>
      <p:sp>
        <p:nvSpPr>
          <p:cNvPr id="17" name="Shape 14"/>
          <p:cNvSpPr/>
          <p:nvPr/>
        </p:nvSpPr>
        <p:spPr>
          <a:xfrm>
            <a:off x="4709160" y="804672"/>
            <a:ext cx="4041648" cy="411480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8" name="Shape 15"/>
          <p:cNvSpPr/>
          <p:nvPr/>
        </p:nvSpPr>
        <p:spPr>
          <a:xfrm>
            <a:off x="4709160" y="804672"/>
            <a:ext cx="4041648" cy="384048"/>
          </a:xfrm>
          <a:prstGeom prst="rect">
            <a:avLst/>
          </a:prstGeom>
          <a:solidFill>
            <a:srgbClr val="065A82"/>
          </a:solidFill>
          <a:ln w="12700">
            <a:solidFill>
              <a:srgbClr val="065A82"/>
            </a:solidFill>
            <a:prstDash val="solid"/>
          </a:ln>
        </p:spPr>
        <p:txBody>
          <a:bodyPr/>
          <a:lstStyle/>
          <a:p>
            <a:endParaRPr lang="en-BW"/>
          </a:p>
        </p:txBody>
      </p:sp>
      <p:sp>
        <p:nvSpPr>
          <p:cNvPr id="19" name="Text 16"/>
          <p:cNvSpPr/>
          <p:nvPr/>
        </p:nvSpPr>
        <p:spPr>
          <a:xfrm>
            <a:off x="4828032" y="850392"/>
            <a:ext cx="38404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BER Performance</a:t>
            </a:r>
            <a:endParaRPr lang="en-US" sz="1300" dirty="0"/>
          </a:p>
        </p:txBody>
      </p:sp>
      <p:pic>
        <p:nvPicPr>
          <p:cNvPr id="20" name="Image 1" descr="preencoded.png"/>
          <p:cNvPicPr>
            <a:picLocks noChangeAspect="1"/>
          </p:cNvPicPr>
          <p:nvPr/>
        </p:nvPicPr>
        <p:blipFill>
          <a:blip r:embed="rId4"/>
          <a:srcRect/>
          <a:stretch/>
        </p:blipFill>
        <p:spPr>
          <a:xfrm>
            <a:off x="4773168" y="1261872"/>
            <a:ext cx="3913632" cy="2011680"/>
          </a:xfrm>
          <a:prstGeom prst="rect">
            <a:avLst/>
          </a:prstGeom>
        </p:spPr>
      </p:pic>
      <p:sp>
        <p:nvSpPr>
          <p:cNvPr id="21" name="Shape 17"/>
          <p:cNvSpPr/>
          <p:nvPr/>
        </p:nvSpPr>
        <p:spPr>
          <a:xfrm>
            <a:off x="4800600" y="3364992"/>
            <a:ext cx="3858768" cy="438912"/>
          </a:xfrm>
          <a:prstGeom prst="rect">
            <a:avLst/>
          </a:prstGeom>
          <a:solidFill>
            <a:srgbClr val="0D1117"/>
          </a:solidFill>
          <a:ln w="12700">
            <a:solidFill>
              <a:srgbClr val="02C39A"/>
            </a:solidFill>
            <a:prstDash val="solid"/>
          </a:ln>
        </p:spPr>
        <p:txBody>
          <a:bodyPr/>
          <a:lstStyle/>
          <a:p>
            <a:endParaRPr lang="en-BW"/>
          </a:p>
        </p:txBody>
      </p:sp>
      <p:sp>
        <p:nvSpPr>
          <p:cNvPr id="22" name="Text 18"/>
          <p:cNvSpPr/>
          <p:nvPr/>
        </p:nvSpPr>
        <p:spPr>
          <a:xfrm>
            <a:off x="4919472" y="3429000"/>
            <a:ext cx="3657600" cy="274320"/>
          </a:xfrm>
          <a:prstGeom prst="rect">
            <a:avLst/>
          </a:prstGeom>
          <a:noFill/>
          <a:ln/>
        </p:spPr>
        <p:txBody>
          <a:bodyPr wrap="square" lIns="0" tIns="0" rIns="0" bIns="0" rtlCol="0" anchor="ctr"/>
          <a:lstStyle/>
          <a:p>
            <a:pPr marL="0" indent="0">
              <a:buNone/>
            </a:pPr>
            <a:r>
              <a:rPr lang="en-US" sz="1000" dirty="0">
                <a:solidFill>
                  <a:srgbClr val="02C39A"/>
                </a:solidFill>
                <a:latin typeface="Courier New" pitchFamily="34" charset="0"/>
                <a:ea typeface="Courier New" pitchFamily="34" charset="-122"/>
                <a:cs typeface="Courier New" pitchFamily="34" charset="-120"/>
              </a:rPr>
              <a:t>BER = Q( √(2 · SNR_linear) )</a:t>
            </a:r>
            <a:endParaRPr lang="en-US" sz="1000" dirty="0"/>
          </a:p>
        </p:txBody>
      </p:sp>
      <p:pic>
        <p:nvPicPr>
          <p:cNvPr id="23" name="Image 2" descr="preencoded.png"/>
          <p:cNvPicPr>
            <a:picLocks noChangeAspect="1"/>
          </p:cNvPicPr>
          <p:nvPr/>
        </p:nvPicPr>
        <p:blipFill>
          <a:blip r:embed="rId5"/>
          <a:srcRect/>
          <a:stretch/>
        </p:blipFill>
        <p:spPr>
          <a:xfrm>
            <a:off x="4773168" y="3886200"/>
            <a:ext cx="3913632" cy="1005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Signal Recovery — Demodulation &amp; Reconstruction</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384048" y="804672"/>
            <a:ext cx="2029968" cy="2359152"/>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6" name="Shape 4"/>
          <p:cNvSpPr/>
          <p:nvPr/>
        </p:nvSpPr>
        <p:spPr>
          <a:xfrm>
            <a:off x="384048" y="804672"/>
            <a:ext cx="2029968" cy="868680"/>
          </a:xfrm>
          <a:prstGeom prst="rect">
            <a:avLst/>
          </a:prstGeom>
          <a:solidFill>
            <a:srgbClr val="065A82"/>
          </a:solidFill>
          <a:ln w="12700">
            <a:solidFill>
              <a:srgbClr val="065A82"/>
            </a:solidFill>
            <a:prstDash val="solid"/>
          </a:ln>
        </p:spPr>
        <p:txBody>
          <a:bodyPr/>
          <a:lstStyle/>
          <a:p>
            <a:endParaRPr lang="en-BW"/>
          </a:p>
        </p:txBody>
      </p:sp>
      <p:sp>
        <p:nvSpPr>
          <p:cNvPr id="7" name="Text 5"/>
          <p:cNvSpPr/>
          <p:nvPr/>
        </p:nvSpPr>
        <p:spPr>
          <a:xfrm>
            <a:off x="384048" y="822960"/>
            <a:ext cx="2029968"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384048" y="1298448"/>
            <a:ext cx="20299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Demodulate</a:t>
            </a:r>
            <a:endParaRPr lang="en-US" sz="1100" dirty="0"/>
          </a:p>
        </p:txBody>
      </p:sp>
      <p:sp>
        <p:nvSpPr>
          <p:cNvPr id="9" name="Text 7"/>
          <p:cNvSpPr/>
          <p:nvPr/>
        </p:nvSpPr>
        <p:spPr>
          <a:xfrm>
            <a:off x="475488" y="1755648"/>
            <a:ext cx="1874520" cy="1325880"/>
          </a:xfrm>
          <a:prstGeom prst="rect">
            <a:avLst/>
          </a:prstGeom>
          <a:noFill/>
          <a:ln/>
        </p:spPr>
        <p:txBody>
          <a:bodyPr wrap="square" rtlCol="0" anchor="ctr"/>
          <a:lstStyle/>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Hard threshold: r≥0 → bit 1</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r&lt;0 → bit 0</a:t>
            </a:r>
            <a:endParaRPr lang="en-US" sz="1000" dirty="0"/>
          </a:p>
        </p:txBody>
      </p:sp>
      <p:sp>
        <p:nvSpPr>
          <p:cNvPr id="10" name="Shape 8"/>
          <p:cNvSpPr/>
          <p:nvPr/>
        </p:nvSpPr>
        <p:spPr>
          <a:xfrm>
            <a:off x="2414016" y="1984248"/>
            <a:ext cx="146304" cy="0"/>
          </a:xfrm>
          <a:prstGeom prst="line">
            <a:avLst/>
          </a:prstGeom>
          <a:noFill/>
          <a:ln w="25400">
            <a:solidFill>
              <a:srgbClr val="02C39A"/>
            </a:solidFill>
            <a:prstDash val="solid"/>
          </a:ln>
        </p:spPr>
        <p:txBody>
          <a:bodyPr/>
          <a:lstStyle/>
          <a:p>
            <a:endParaRPr lang="en-BW"/>
          </a:p>
        </p:txBody>
      </p:sp>
      <p:sp>
        <p:nvSpPr>
          <p:cNvPr id="11" name="Shape 9"/>
          <p:cNvSpPr/>
          <p:nvPr/>
        </p:nvSpPr>
        <p:spPr>
          <a:xfrm>
            <a:off x="2560320" y="804672"/>
            <a:ext cx="2029968" cy="2359152"/>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2" name="Shape 10"/>
          <p:cNvSpPr/>
          <p:nvPr/>
        </p:nvSpPr>
        <p:spPr>
          <a:xfrm>
            <a:off x="2560320" y="804672"/>
            <a:ext cx="2029968" cy="868680"/>
          </a:xfrm>
          <a:prstGeom prst="rect">
            <a:avLst/>
          </a:prstGeom>
          <a:solidFill>
            <a:srgbClr val="1C7293"/>
          </a:solidFill>
          <a:ln w="12700">
            <a:solidFill>
              <a:srgbClr val="1C7293"/>
            </a:solidFill>
            <a:prstDash val="solid"/>
          </a:ln>
        </p:spPr>
        <p:txBody>
          <a:bodyPr/>
          <a:lstStyle/>
          <a:p>
            <a:endParaRPr lang="en-BW"/>
          </a:p>
        </p:txBody>
      </p:sp>
      <p:sp>
        <p:nvSpPr>
          <p:cNvPr id="13" name="Text 11"/>
          <p:cNvSpPr/>
          <p:nvPr/>
        </p:nvSpPr>
        <p:spPr>
          <a:xfrm>
            <a:off x="2560320" y="822960"/>
            <a:ext cx="2029968"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4" name="Text 12"/>
          <p:cNvSpPr/>
          <p:nvPr/>
        </p:nvSpPr>
        <p:spPr>
          <a:xfrm>
            <a:off x="2560320" y="1298448"/>
            <a:ext cx="20299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PCM Decode</a:t>
            </a:r>
            <a:endParaRPr lang="en-US" sz="1100" dirty="0"/>
          </a:p>
        </p:txBody>
      </p:sp>
      <p:sp>
        <p:nvSpPr>
          <p:cNvPr id="15" name="Text 13"/>
          <p:cNvSpPr/>
          <p:nvPr/>
        </p:nvSpPr>
        <p:spPr>
          <a:xfrm>
            <a:off x="2651760" y="1755648"/>
            <a:ext cx="1874520" cy="1325880"/>
          </a:xfrm>
          <a:prstGeom prst="rect">
            <a:avLst/>
          </a:prstGeom>
          <a:noFill/>
          <a:ln/>
        </p:spPr>
        <p:txBody>
          <a:bodyPr wrap="square" rtlCol="0" anchor="ctr"/>
          <a:lstStyle/>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Trim bitstream to 8-bit multiple</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Repack bits → quant. index q̂</a:t>
            </a:r>
            <a:endParaRPr lang="en-US" sz="1000" dirty="0"/>
          </a:p>
        </p:txBody>
      </p:sp>
      <p:sp>
        <p:nvSpPr>
          <p:cNvPr id="16" name="Shape 14"/>
          <p:cNvSpPr/>
          <p:nvPr/>
        </p:nvSpPr>
        <p:spPr>
          <a:xfrm>
            <a:off x="4590288" y="1984248"/>
            <a:ext cx="146304" cy="0"/>
          </a:xfrm>
          <a:prstGeom prst="line">
            <a:avLst/>
          </a:prstGeom>
          <a:noFill/>
          <a:ln w="25400">
            <a:solidFill>
              <a:srgbClr val="02C39A"/>
            </a:solidFill>
            <a:prstDash val="solid"/>
          </a:ln>
        </p:spPr>
        <p:txBody>
          <a:bodyPr/>
          <a:lstStyle/>
          <a:p>
            <a:endParaRPr lang="en-BW"/>
          </a:p>
        </p:txBody>
      </p:sp>
      <p:sp>
        <p:nvSpPr>
          <p:cNvPr id="17" name="Shape 15"/>
          <p:cNvSpPr/>
          <p:nvPr/>
        </p:nvSpPr>
        <p:spPr>
          <a:xfrm>
            <a:off x="4736592" y="804672"/>
            <a:ext cx="2029968" cy="2359152"/>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8" name="Shape 16"/>
          <p:cNvSpPr/>
          <p:nvPr/>
        </p:nvSpPr>
        <p:spPr>
          <a:xfrm>
            <a:off x="4736592" y="804672"/>
            <a:ext cx="2029968" cy="868680"/>
          </a:xfrm>
          <a:prstGeom prst="rect">
            <a:avLst/>
          </a:prstGeom>
          <a:solidFill>
            <a:srgbClr val="1E3A5F"/>
          </a:solidFill>
          <a:ln w="12700">
            <a:solidFill>
              <a:srgbClr val="1E3A5F"/>
            </a:solidFill>
            <a:prstDash val="solid"/>
          </a:ln>
        </p:spPr>
        <p:txBody>
          <a:bodyPr/>
          <a:lstStyle/>
          <a:p>
            <a:endParaRPr lang="en-BW"/>
          </a:p>
        </p:txBody>
      </p:sp>
      <p:sp>
        <p:nvSpPr>
          <p:cNvPr id="19" name="Text 17"/>
          <p:cNvSpPr/>
          <p:nvPr/>
        </p:nvSpPr>
        <p:spPr>
          <a:xfrm>
            <a:off x="4736592" y="822960"/>
            <a:ext cx="2029968"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0" name="Text 18"/>
          <p:cNvSpPr/>
          <p:nvPr/>
        </p:nvSpPr>
        <p:spPr>
          <a:xfrm>
            <a:off x="4736592" y="1298448"/>
            <a:ext cx="20299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Reconstruct</a:t>
            </a:r>
            <a:endParaRPr lang="en-US" sz="1100" dirty="0"/>
          </a:p>
        </p:txBody>
      </p:sp>
      <p:sp>
        <p:nvSpPr>
          <p:cNvPr id="21" name="Text 19"/>
          <p:cNvSpPr/>
          <p:nvPr/>
        </p:nvSpPr>
        <p:spPr>
          <a:xfrm>
            <a:off x="4828032" y="1755648"/>
            <a:ext cx="1874520" cy="1325880"/>
          </a:xfrm>
          <a:prstGeom prst="rect">
            <a:avLst/>
          </a:prstGeom>
          <a:noFill/>
          <a:ln/>
        </p:spPr>
        <p:txBody>
          <a:bodyPr wrap="square" rtlCol="0" anchor="ctr"/>
          <a:lstStyle/>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x̂ = x_min + q̂ · Δ</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Inverse of Stage 3</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Recovers physical values</a:t>
            </a:r>
            <a:endParaRPr lang="en-US" sz="1000" dirty="0"/>
          </a:p>
        </p:txBody>
      </p:sp>
      <p:sp>
        <p:nvSpPr>
          <p:cNvPr id="22" name="Shape 20"/>
          <p:cNvSpPr/>
          <p:nvPr/>
        </p:nvSpPr>
        <p:spPr>
          <a:xfrm>
            <a:off x="6766560" y="1984248"/>
            <a:ext cx="146304" cy="0"/>
          </a:xfrm>
          <a:prstGeom prst="line">
            <a:avLst/>
          </a:prstGeom>
          <a:noFill/>
          <a:ln w="25400">
            <a:solidFill>
              <a:srgbClr val="02C39A"/>
            </a:solidFill>
            <a:prstDash val="solid"/>
          </a:ln>
        </p:spPr>
        <p:txBody>
          <a:bodyPr/>
          <a:lstStyle/>
          <a:p>
            <a:endParaRPr lang="en-BW"/>
          </a:p>
        </p:txBody>
      </p:sp>
      <p:sp>
        <p:nvSpPr>
          <p:cNvPr id="23" name="Shape 21"/>
          <p:cNvSpPr/>
          <p:nvPr/>
        </p:nvSpPr>
        <p:spPr>
          <a:xfrm>
            <a:off x="6912864" y="804672"/>
            <a:ext cx="2029968" cy="2359152"/>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24" name="Shape 22"/>
          <p:cNvSpPr/>
          <p:nvPr/>
        </p:nvSpPr>
        <p:spPr>
          <a:xfrm>
            <a:off x="6912864" y="804672"/>
            <a:ext cx="2029968" cy="868680"/>
          </a:xfrm>
          <a:prstGeom prst="rect">
            <a:avLst/>
          </a:prstGeom>
          <a:solidFill>
            <a:srgbClr val="02C39A"/>
          </a:solidFill>
          <a:ln w="12700">
            <a:solidFill>
              <a:srgbClr val="02C39A"/>
            </a:solidFill>
            <a:prstDash val="solid"/>
          </a:ln>
        </p:spPr>
        <p:txBody>
          <a:bodyPr/>
          <a:lstStyle/>
          <a:p>
            <a:endParaRPr lang="en-BW"/>
          </a:p>
        </p:txBody>
      </p:sp>
      <p:sp>
        <p:nvSpPr>
          <p:cNvPr id="25" name="Text 23"/>
          <p:cNvSpPr/>
          <p:nvPr/>
        </p:nvSpPr>
        <p:spPr>
          <a:xfrm>
            <a:off x="6912864" y="822960"/>
            <a:ext cx="2029968"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6" name="Text 24"/>
          <p:cNvSpPr/>
          <p:nvPr/>
        </p:nvSpPr>
        <p:spPr>
          <a:xfrm>
            <a:off x="6912864" y="1298448"/>
            <a:ext cx="20299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RMSE Fidelity</a:t>
            </a:r>
            <a:endParaRPr lang="en-US" sz="1100" dirty="0"/>
          </a:p>
        </p:txBody>
      </p:sp>
      <p:sp>
        <p:nvSpPr>
          <p:cNvPr id="27" name="Text 25"/>
          <p:cNvSpPr/>
          <p:nvPr/>
        </p:nvSpPr>
        <p:spPr>
          <a:xfrm>
            <a:off x="7004304" y="1755648"/>
            <a:ext cx="1874520" cy="1325880"/>
          </a:xfrm>
          <a:prstGeom prst="rect">
            <a:avLst/>
          </a:prstGeom>
          <a:noFill/>
          <a:ln/>
        </p:spPr>
        <p:txBody>
          <a:bodyPr wrap="square" rtlCol="0" anchor="ctr"/>
          <a:lstStyle/>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RMSE = √(Σ(x−x̂)²/N)</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Evaluated at SNR* (min BER)</a:t>
            </a:r>
            <a:endParaRPr lang="en-US" sz="1000" dirty="0"/>
          </a:p>
          <a:p>
            <a:pPr marL="342900" indent="-342900">
              <a:buSzPct val="100000"/>
              <a:buChar char="•"/>
            </a:pPr>
            <a:r>
              <a:rPr lang="en-US" sz="1000" dirty="0">
                <a:solidFill>
                  <a:srgbClr val="0A2540"/>
                </a:solidFill>
                <a:latin typeface="Calibri" pitchFamily="34" charset="0"/>
                <a:ea typeface="Calibri" pitchFamily="34" charset="-122"/>
                <a:cs typeface="Calibri" pitchFamily="34" charset="-120"/>
              </a:rPr>
              <a:t>Quant + channel error combined</a:t>
            </a:r>
            <a:endParaRPr lang="en-US" sz="1000" dirty="0"/>
          </a:p>
        </p:txBody>
      </p:sp>
      <p:sp>
        <p:nvSpPr>
          <p:cNvPr id="28" name="Text 26"/>
          <p:cNvSpPr/>
          <p:nvPr/>
        </p:nvSpPr>
        <p:spPr>
          <a:xfrm>
            <a:off x="384048" y="3310128"/>
            <a:ext cx="8229600" cy="23774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Code Implementation:</a:t>
            </a:r>
            <a:endParaRPr lang="en-US" sz="1000" dirty="0"/>
          </a:p>
        </p:txBody>
      </p:sp>
      <p:pic>
        <p:nvPicPr>
          <p:cNvPr id="29" name="Image 0" descr="preencoded.png"/>
          <p:cNvPicPr>
            <a:picLocks noChangeAspect="1"/>
          </p:cNvPicPr>
          <p:nvPr/>
        </p:nvPicPr>
        <p:blipFill>
          <a:blip r:embed="rId3"/>
          <a:srcRect/>
          <a:stretch/>
        </p:blipFill>
        <p:spPr>
          <a:xfrm>
            <a:off x="384048" y="3584448"/>
            <a:ext cx="4160520" cy="1481328"/>
          </a:xfrm>
          <a:prstGeom prst="rect">
            <a:avLst/>
          </a:prstGeom>
        </p:spPr>
      </p:pic>
      <p:pic>
        <p:nvPicPr>
          <p:cNvPr id="30" name="Image 1" descr="preencoded.png"/>
          <p:cNvPicPr>
            <a:picLocks noChangeAspect="1"/>
          </p:cNvPicPr>
          <p:nvPr/>
        </p:nvPicPr>
        <p:blipFill>
          <a:blip r:embed="rId4"/>
          <a:srcRect/>
          <a:stretch/>
        </p:blipFill>
        <p:spPr>
          <a:xfrm>
            <a:off x="4572000" y="3584448"/>
            <a:ext cx="4160520" cy="14813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6449" y="0"/>
            <a:ext cx="4369850" cy="5143500"/>
          </a:xfrm>
          <a:prstGeom prst="rect">
            <a:avLst/>
          </a:prstGeom>
          <a:solidFill>
            <a:srgbClr val="028090"/>
          </a:solidFill>
          <a:ln w="12700">
            <a:solidFill>
              <a:srgbClr val="028090">
                <a:alpha val="22000"/>
              </a:srgbClr>
            </a:solidFill>
            <a:prstDash val="solid"/>
          </a:ln>
        </p:spPr>
        <p:txBody>
          <a:bodyPr/>
          <a:lstStyle/>
          <a:p>
            <a:endParaRPr lang="en-BW"/>
          </a:p>
        </p:txBody>
      </p:sp>
      <p:sp>
        <p:nvSpPr>
          <p:cNvPr id="3" name="Text 1"/>
          <p:cNvSpPr/>
          <p:nvPr/>
        </p:nvSpPr>
        <p:spPr>
          <a:xfrm>
            <a:off x="175702" y="489204"/>
            <a:ext cx="8229600" cy="731520"/>
          </a:xfrm>
          <a:prstGeom prst="rect">
            <a:avLst/>
          </a:prstGeom>
          <a:noFill/>
          <a:ln/>
        </p:spPr>
        <p:txBody>
          <a:bodyPr wrap="square" rtlCol="0" anchor="ctr"/>
          <a:lstStyle/>
          <a:p>
            <a:pPr marL="0" indent="0">
              <a:buNone/>
            </a:pPr>
            <a:endParaRPr lang="en-US" sz="3600" dirty="0"/>
          </a:p>
        </p:txBody>
      </p:sp>
      <p:sp>
        <p:nvSpPr>
          <p:cNvPr id="4" name="Text 2"/>
          <p:cNvSpPr/>
          <p:nvPr/>
        </p:nvSpPr>
        <p:spPr>
          <a:xfrm>
            <a:off x="175702" y="502920"/>
            <a:ext cx="8229600" cy="731520"/>
          </a:xfrm>
          <a:prstGeom prst="rect">
            <a:avLst/>
          </a:prstGeom>
          <a:noFill/>
          <a:ln/>
        </p:spPr>
        <p:txBody>
          <a:bodyPr wrap="square" rtlCol="0" anchor="ctr"/>
          <a:lstStyle/>
          <a:p>
            <a:pPr marL="0" indent="0">
              <a:buNone/>
            </a:pPr>
            <a:r>
              <a:rPr lang="en-US" sz="3600" b="1" dirty="0">
                <a:solidFill>
                  <a:srgbClr val="02C39A"/>
                </a:solidFill>
                <a:latin typeface="Calibri" pitchFamily="34" charset="0"/>
                <a:ea typeface="Calibri" pitchFamily="34" charset="-122"/>
                <a:cs typeface="Calibri" pitchFamily="34" charset="-120"/>
              </a:rPr>
              <a:t>Monitoring and Alert </a:t>
            </a:r>
          </a:p>
          <a:p>
            <a:pPr marL="0" indent="0">
              <a:buNone/>
            </a:pPr>
            <a:r>
              <a:rPr lang="en-US" sz="3600" b="1" dirty="0">
                <a:solidFill>
                  <a:srgbClr val="02C39A"/>
                </a:solidFill>
                <a:latin typeface="Calibri" pitchFamily="34" charset="0"/>
                <a:ea typeface="Calibri" pitchFamily="34" charset="-122"/>
                <a:cs typeface="Calibri" pitchFamily="34" charset="-120"/>
              </a:rPr>
              <a:t>System</a:t>
            </a:r>
            <a:endParaRPr lang="en-US" sz="3600" dirty="0"/>
          </a:p>
        </p:txBody>
      </p:sp>
      <p:sp>
        <p:nvSpPr>
          <p:cNvPr id="5" name="Text 3"/>
          <p:cNvSpPr/>
          <p:nvPr/>
        </p:nvSpPr>
        <p:spPr>
          <a:xfrm>
            <a:off x="228600" y="1965960"/>
            <a:ext cx="4114800" cy="914400"/>
          </a:xfrm>
          <a:prstGeom prst="rect">
            <a:avLst/>
          </a:prstGeom>
          <a:noFill/>
          <a:ln/>
        </p:spPr>
        <p:txBody>
          <a:bodyPr wrap="square" rtlCol="0" anchor="ctr"/>
          <a:lstStyle/>
          <a:p>
            <a:pPr marL="0" indent="0">
              <a:buNone/>
            </a:pPr>
            <a:r>
              <a:rPr lang="en-US" sz="1250" dirty="0">
                <a:solidFill>
                  <a:srgbClr val="D6EAF8"/>
                </a:solidFill>
                <a:latin typeface="Calibri" pitchFamily="34" charset="0"/>
                <a:ea typeface="Calibri" pitchFamily="34" charset="-122"/>
                <a:cs typeface="Calibri" pitchFamily="34" charset="-120"/>
              </a:rPr>
              <a:t>IoT-based real-time sensing of dissolved oxygen, pH and temperature</a:t>
            </a:r>
            <a:endParaRPr lang="en-US" sz="1250" dirty="0"/>
          </a:p>
          <a:p>
            <a:pPr marL="0" indent="0">
              <a:buNone/>
            </a:pPr>
            <a:r>
              <a:rPr lang="en-US" sz="1250" dirty="0">
                <a:solidFill>
                  <a:srgbClr val="D6EAF8"/>
                </a:solidFill>
                <a:latin typeface="Calibri" pitchFamily="34" charset="0"/>
                <a:ea typeface="Calibri" pitchFamily="34" charset="-122"/>
                <a:cs typeface="Calibri" pitchFamily="34" charset="-120"/>
              </a:rPr>
              <a:t>via smart sensors, signal processing and Power BI dashboards.</a:t>
            </a:r>
            <a:endParaRPr lang="en-US" sz="1250" dirty="0"/>
          </a:p>
        </p:txBody>
      </p:sp>
      <p:pic>
        <p:nvPicPr>
          <p:cNvPr id="6" name="Image 0" descr="preencoded.png"/>
          <p:cNvPicPr>
            <a:picLocks noChangeAspect="1"/>
          </p:cNvPicPr>
          <p:nvPr/>
        </p:nvPicPr>
        <p:blipFill>
          <a:blip r:embed="rId3"/>
          <a:stretch>
            <a:fillRect/>
          </a:stretch>
        </p:blipFill>
        <p:spPr>
          <a:xfrm>
            <a:off x="4434840" y="1143000"/>
            <a:ext cx="4480560" cy="1463040"/>
          </a:xfrm>
          <a:prstGeom prst="rect">
            <a:avLst/>
          </a:prstGeom>
        </p:spPr>
      </p:pic>
      <p:sp>
        <p:nvSpPr>
          <p:cNvPr id="7" name="Shape 4"/>
          <p:cNvSpPr/>
          <p:nvPr/>
        </p:nvSpPr>
        <p:spPr>
          <a:xfrm>
            <a:off x="411480" y="3566160"/>
            <a:ext cx="2560320" cy="1280160"/>
          </a:xfrm>
          <a:prstGeom prst="rect">
            <a:avLst/>
          </a:prstGeom>
          <a:solidFill>
            <a:srgbClr val="02C39A"/>
          </a:solidFill>
          <a:ln w="12700">
            <a:solidFill>
              <a:srgbClr val="02C39A"/>
            </a:solidFill>
            <a:prstDash val="solid"/>
          </a:ln>
        </p:spPr>
        <p:txBody>
          <a:bodyPr/>
          <a:lstStyle/>
          <a:p>
            <a:endParaRPr lang="en-BW"/>
          </a:p>
        </p:txBody>
      </p:sp>
      <p:sp>
        <p:nvSpPr>
          <p:cNvPr id="8" name="Text 5"/>
          <p:cNvSpPr/>
          <p:nvPr/>
        </p:nvSpPr>
        <p:spPr>
          <a:xfrm>
            <a:off x="411480" y="3611880"/>
            <a:ext cx="2560320" cy="594360"/>
          </a:xfrm>
          <a:prstGeom prst="rect">
            <a:avLst/>
          </a:prstGeom>
          <a:noFill/>
          <a:ln/>
        </p:spPr>
        <p:txBody>
          <a:bodyPr wrap="square" lIns="0" tIns="0" rIns="0" bIns="0" rtlCol="0" anchor="b"/>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9" name="Text 6"/>
          <p:cNvSpPr/>
          <p:nvPr/>
        </p:nvSpPr>
        <p:spPr>
          <a:xfrm>
            <a:off x="411480" y="4187952"/>
            <a:ext cx="2560320" cy="594360"/>
          </a:xfrm>
          <a:prstGeom prst="rect">
            <a:avLst/>
          </a:prstGeom>
          <a:noFill/>
          <a:ln/>
        </p:spPr>
        <p:txBody>
          <a:bodyPr wrap="square" lIns="0" tIns="0" rIns="0" bIns="0" rtlCol="0" anchor="t"/>
          <a:lstStyle/>
          <a:p>
            <a:pPr marL="0" indent="0" algn="ctr">
              <a:buNone/>
            </a:pPr>
            <a:r>
              <a:rPr lang="en-US" sz="950" dirty="0">
                <a:solidFill>
                  <a:srgbClr val="D6EAF8"/>
                </a:solidFill>
                <a:latin typeface="Calibri" pitchFamily="34" charset="0"/>
                <a:ea typeface="Calibri" pitchFamily="34" charset="-122"/>
                <a:cs typeface="Calibri" pitchFamily="34" charset="-120"/>
              </a:rPr>
              <a:t>Parameters</a:t>
            </a:r>
            <a:endParaRPr lang="en-US" sz="950" dirty="0"/>
          </a:p>
          <a:p>
            <a:pPr marL="0" indent="0" algn="ctr">
              <a:buNone/>
            </a:pPr>
            <a:r>
              <a:rPr lang="en-US" sz="950" dirty="0">
                <a:solidFill>
                  <a:srgbClr val="D6EAF8"/>
                </a:solidFill>
                <a:latin typeface="Calibri" pitchFamily="34" charset="0"/>
                <a:ea typeface="Calibri" pitchFamily="34" charset="-122"/>
                <a:cs typeface="Calibri" pitchFamily="34" charset="-120"/>
              </a:rPr>
              <a:t>Monitored</a:t>
            </a:r>
            <a:endParaRPr lang="en-US" sz="950" dirty="0"/>
          </a:p>
        </p:txBody>
      </p:sp>
      <p:sp>
        <p:nvSpPr>
          <p:cNvPr id="10" name="Shape 7"/>
          <p:cNvSpPr/>
          <p:nvPr/>
        </p:nvSpPr>
        <p:spPr>
          <a:xfrm>
            <a:off x="3246120" y="3566160"/>
            <a:ext cx="2560320" cy="1280160"/>
          </a:xfrm>
          <a:prstGeom prst="rect">
            <a:avLst/>
          </a:prstGeom>
          <a:solidFill>
            <a:srgbClr val="02C39A"/>
          </a:solidFill>
          <a:ln w="12700">
            <a:solidFill>
              <a:srgbClr val="02C39A"/>
            </a:solidFill>
            <a:prstDash val="solid"/>
          </a:ln>
        </p:spPr>
        <p:txBody>
          <a:bodyPr/>
          <a:lstStyle/>
          <a:p>
            <a:endParaRPr lang="en-BW"/>
          </a:p>
        </p:txBody>
      </p:sp>
      <p:sp>
        <p:nvSpPr>
          <p:cNvPr id="11" name="Text 8"/>
          <p:cNvSpPr/>
          <p:nvPr/>
        </p:nvSpPr>
        <p:spPr>
          <a:xfrm>
            <a:off x="3246120" y="3611880"/>
            <a:ext cx="2560320" cy="594360"/>
          </a:xfrm>
          <a:prstGeom prst="rect">
            <a:avLst/>
          </a:prstGeom>
          <a:noFill/>
          <a:ln/>
        </p:spPr>
        <p:txBody>
          <a:bodyPr wrap="square" lIns="0" tIns="0" rIns="0" bIns="0" rtlCol="0" anchor="b"/>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9"/>
          <p:cNvSpPr/>
          <p:nvPr/>
        </p:nvSpPr>
        <p:spPr>
          <a:xfrm>
            <a:off x="3246120" y="4187952"/>
            <a:ext cx="2560320" cy="594360"/>
          </a:xfrm>
          <a:prstGeom prst="rect">
            <a:avLst/>
          </a:prstGeom>
          <a:noFill/>
          <a:ln/>
        </p:spPr>
        <p:txBody>
          <a:bodyPr wrap="square" lIns="0" tIns="0" rIns="0" bIns="0" rtlCol="0" anchor="t"/>
          <a:lstStyle/>
          <a:p>
            <a:pPr marL="0" indent="0" algn="ctr">
              <a:buNone/>
            </a:pPr>
            <a:r>
              <a:rPr lang="en-US" sz="950" dirty="0">
                <a:solidFill>
                  <a:srgbClr val="D6EAF8"/>
                </a:solidFill>
                <a:latin typeface="Calibri" pitchFamily="34" charset="0"/>
                <a:ea typeface="Calibri" pitchFamily="34" charset="-122"/>
                <a:cs typeface="Calibri" pitchFamily="34" charset="-120"/>
              </a:rPr>
              <a:t>Data</a:t>
            </a:r>
            <a:endParaRPr lang="en-US" sz="950" dirty="0"/>
          </a:p>
          <a:p>
            <a:pPr marL="0" indent="0" algn="ctr">
              <a:buNone/>
            </a:pPr>
            <a:r>
              <a:rPr lang="en-US" sz="950" dirty="0">
                <a:solidFill>
                  <a:srgbClr val="D6EAF8"/>
                </a:solidFill>
                <a:latin typeface="Calibri" pitchFamily="34" charset="0"/>
                <a:ea typeface="Calibri" pitchFamily="34" charset="-122"/>
                <a:cs typeface="Calibri" pitchFamily="34" charset="-120"/>
              </a:rPr>
              <a:t>Segments</a:t>
            </a:r>
            <a:endParaRPr lang="en-US" sz="950" dirty="0"/>
          </a:p>
        </p:txBody>
      </p:sp>
      <p:sp>
        <p:nvSpPr>
          <p:cNvPr id="13" name="Shape 10"/>
          <p:cNvSpPr/>
          <p:nvPr/>
        </p:nvSpPr>
        <p:spPr>
          <a:xfrm>
            <a:off x="6080760" y="3566160"/>
            <a:ext cx="2560320" cy="1280160"/>
          </a:xfrm>
          <a:prstGeom prst="rect">
            <a:avLst/>
          </a:prstGeom>
          <a:solidFill>
            <a:srgbClr val="02C39A">
              <a:alpha val="94000"/>
            </a:srgbClr>
          </a:solidFill>
          <a:ln w="12700">
            <a:solidFill>
              <a:srgbClr val="02C39A"/>
            </a:solidFill>
            <a:prstDash val="solid"/>
          </a:ln>
        </p:spPr>
        <p:txBody>
          <a:bodyPr/>
          <a:lstStyle/>
          <a:p>
            <a:endParaRPr lang="en-BW"/>
          </a:p>
        </p:txBody>
      </p:sp>
      <p:sp>
        <p:nvSpPr>
          <p:cNvPr id="14" name="Text 11"/>
          <p:cNvSpPr/>
          <p:nvPr/>
        </p:nvSpPr>
        <p:spPr>
          <a:xfrm>
            <a:off x="6080760" y="3611880"/>
            <a:ext cx="2560320" cy="594360"/>
          </a:xfrm>
          <a:prstGeom prst="rect">
            <a:avLst/>
          </a:prstGeom>
          <a:noFill/>
          <a:ln/>
        </p:spPr>
        <p:txBody>
          <a:bodyPr wrap="square" lIns="0" tIns="0" rIns="0" bIns="0" rtlCol="0" anchor="b"/>
          <a:lstStyle/>
          <a:p>
            <a:pPr marL="0" indent="0" algn="ctr">
              <a:buNone/>
            </a:pPr>
            <a:r>
              <a:rPr lang="en-US" sz="2400" b="1" dirty="0">
                <a:solidFill>
                  <a:srgbClr val="FFFFFF"/>
                </a:solidFill>
                <a:latin typeface="Calibri" pitchFamily="34" charset="0"/>
                <a:ea typeface="Calibri" pitchFamily="34" charset="-122"/>
                <a:cs typeface="Calibri" pitchFamily="34" charset="-120"/>
              </a:rPr>
              <a:t>42 dB</a:t>
            </a:r>
            <a:endParaRPr lang="en-US" sz="2400" dirty="0"/>
          </a:p>
        </p:txBody>
      </p:sp>
      <p:sp>
        <p:nvSpPr>
          <p:cNvPr id="15" name="Text 12"/>
          <p:cNvSpPr/>
          <p:nvPr/>
        </p:nvSpPr>
        <p:spPr>
          <a:xfrm>
            <a:off x="6080760" y="4187952"/>
            <a:ext cx="2560320" cy="594360"/>
          </a:xfrm>
          <a:prstGeom prst="rect">
            <a:avLst/>
          </a:prstGeom>
          <a:noFill/>
          <a:ln/>
        </p:spPr>
        <p:txBody>
          <a:bodyPr wrap="square" lIns="0" tIns="0" rIns="0" bIns="0" rtlCol="0" anchor="t"/>
          <a:lstStyle/>
          <a:p>
            <a:pPr marL="0" indent="0" algn="ctr">
              <a:buNone/>
            </a:pPr>
            <a:r>
              <a:rPr lang="en-US" sz="950" dirty="0">
                <a:solidFill>
                  <a:srgbClr val="D6EAF8"/>
                </a:solidFill>
                <a:latin typeface="Calibri" pitchFamily="34" charset="0"/>
                <a:ea typeface="Calibri" pitchFamily="34" charset="-122"/>
                <a:cs typeface="Calibri" pitchFamily="34" charset="-120"/>
              </a:rPr>
              <a:t>Signal-to-</a:t>
            </a:r>
            <a:endParaRPr lang="en-US" sz="950" dirty="0"/>
          </a:p>
          <a:p>
            <a:pPr marL="0" indent="0" algn="ctr">
              <a:buNone/>
            </a:pPr>
            <a:r>
              <a:rPr lang="en-US" sz="950" dirty="0">
                <a:solidFill>
                  <a:srgbClr val="D6EAF8"/>
                </a:solidFill>
                <a:latin typeface="Calibri" pitchFamily="34" charset="0"/>
                <a:ea typeface="Calibri" pitchFamily="34" charset="-122"/>
                <a:cs typeface="Calibri" pitchFamily="34" charset="-120"/>
              </a:rPr>
              <a:t>Noise Ratio</a:t>
            </a:r>
            <a:endParaRPr lang="en-US" sz="950" dirty="0"/>
          </a:p>
        </p:txBody>
      </p:sp>
      <p:sp>
        <p:nvSpPr>
          <p:cNvPr id="17" name="Text 2">
            <a:extLst>
              <a:ext uri="{FF2B5EF4-FFF2-40B4-BE49-F238E27FC236}">
                <a16:creationId xmlns:a16="http://schemas.microsoft.com/office/drawing/2014/main" id="{B556990A-F07F-327F-A636-D3FF533652FB}"/>
              </a:ext>
            </a:extLst>
          </p:cNvPr>
          <p:cNvSpPr/>
          <p:nvPr/>
        </p:nvSpPr>
        <p:spPr>
          <a:xfrm>
            <a:off x="851408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1E3A"/>
          </a:solidFill>
          <a:ln w="12700">
            <a:solidFill>
              <a:srgbClr val="021E3A"/>
            </a:solidFill>
            <a:prstDash val="solid"/>
          </a:ln>
        </p:spPr>
        <p:txBody>
          <a:bodyPr/>
          <a:lstStyle/>
          <a:p>
            <a:endParaRPr lang="en-BW"/>
          </a:p>
        </p:txBody>
      </p:sp>
      <p:sp>
        <p:nvSpPr>
          <p:cNvPr id="3" name="Text 1"/>
          <p:cNvSpPr/>
          <p:nvPr/>
        </p:nvSpPr>
        <p:spPr>
          <a:xfrm>
            <a:off x="320040" y="0"/>
            <a:ext cx="6858000" cy="65836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How the System Monitors: Sensor Data Segments</a:t>
            </a:r>
            <a:endParaRPr lang="en-US" sz="1700" dirty="0"/>
          </a:p>
        </p:txBody>
      </p:sp>
      <p:sp>
        <p:nvSpPr>
          <p:cNvPr id="5" name="Shape 3"/>
          <p:cNvSpPr/>
          <p:nvPr/>
        </p:nvSpPr>
        <p:spPr>
          <a:xfrm>
            <a:off x="283388" y="758952"/>
            <a:ext cx="4297680" cy="434302"/>
          </a:xfrm>
          <a:prstGeom prst="rect">
            <a:avLst/>
          </a:prstGeom>
          <a:solidFill>
            <a:srgbClr val="028090">
              <a:alpha val="20000"/>
            </a:srgbClr>
          </a:solidFill>
          <a:ln w="12700">
            <a:solidFill>
              <a:srgbClr val="028090"/>
            </a:solidFill>
            <a:prstDash val="solid"/>
          </a:ln>
        </p:spPr>
        <p:txBody>
          <a:bodyPr/>
          <a:lstStyle/>
          <a:p>
            <a:endParaRPr lang="en-BW"/>
          </a:p>
        </p:txBody>
      </p:sp>
      <p:sp>
        <p:nvSpPr>
          <p:cNvPr id="6" name="Text 4"/>
          <p:cNvSpPr/>
          <p:nvPr/>
        </p:nvSpPr>
        <p:spPr>
          <a:xfrm>
            <a:off x="1019292" y="854926"/>
            <a:ext cx="3840480" cy="25603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NORMAL SEGMENT — steady baseline readings from sensors</a:t>
            </a:r>
            <a:endParaRPr lang="en-US" sz="850" dirty="0"/>
          </a:p>
        </p:txBody>
      </p:sp>
      <p:sp>
        <p:nvSpPr>
          <p:cNvPr id="7" name="Shape 5"/>
          <p:cNvSpPr/>
          <p:nvPr/>
        </p:nvSpPr>
        <p:spPr>
          <a:xfrm>
            <a:off x="4690872" y="749808"/>
            <a:ext cx="4297680" cy="434302"/>
          </a:xfrm>
          <a:prstGeom prst="rect">
            <a:avLst/>
          </a:prstGeom>
          <a:solidFill>
            <a:srgbClr val="E24B4A">
              <a:alpha val="20000"/>
            </a:srgbClr>
          </a:solidFill>
          <a:ln w="12700">
            <a:solidFill>
              <a:srgbClr val="E24B4A"/>
            </a:solidFill>
            <a:prstDash val="solid"/>
          </a:ln>
        </p:spPr>
        <p:txBody>
          <a:bodyPr/>
          <a:lstStyle/>
          <a:p>
            <a:endParaRPr lang="en-BW"/>
          </a:p>
        </p:txBody>
      </p:sp>
      <p:sp>
        <p:nvSpPr>
          <p:cNvPr id="8" name="Text 6"/>
          <p:cNvSpPr/>
          <p:nvPr/>
        </p:nvSpPr>
        <p:spPr>
          <a:xfrm>
            <a:off x="5595676" y="713232"/>
            <a:ext cx="4023360" cy="525742"/>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EVENT SEGMENT — anomalous readings flagged by system</a:t>
            </a:r>
            <a:endParaRPr lang="en-US" sz="850" dirty="0"/>
          </a:p>
        </p:txBody>
      </p:sp>
      <p:pic>
        <p:nvPicPr>
          <p:cNvPr id="9" name="Image 0" descr="preencoded.png"/>
          <p:cNvPicPr>
            <a:picLocks noChangeAspect="1"/>
          </p:cNvPicPr>
          <p:nvPr/>
        </p:nvPicPr>
        <p:blipFill>
          <a:blip r:embed="rId3"/>
          <a:stretch>
            <a:fillRect/>
          </a:stretch>
        </p:blipFill>
        <p:spPr>
          <a:xfrm>
            <a:off x="274320" y="1284694"/>
            <a:ext cx="4297680" cy="3625634"/>
          </a:xfrm>
          <a:prstGeom prst="rect">
            <a:avLst/>
          </a:prstGeom>
        </p:spPr>
      </p:pic>
      <p:pic>
        <p:nvPicPr>
          <p:cNvPr id="10" name="Image 1" descr="preencoded.png"/>
          <p:cNvPicPr>
            <a:picLocks noChangeAspect="1"/>
          </p:cNvPicPr>
          <p:nvPr/>
        </p:nvPicPr>
        <p:blipFill>
          <a:blip r:embed="rId4"/>
          <a:stretch>
            <a:fillRect/>
          </a:stretch>
        </p:blipFill>
        <p:spPr>
          <a:xfrm>
            <a:off x="4690872" y="1284694"/>
            <a:ext cx="4297680" cy="3625634"/>
          </a:xfrm>
          <a:prstGeom prst="rect">
            <a:avLst/>
          </a:prstGeom>
        </p:spPr>
      </p:pic>
      <p:sp>
        <p:nvSpPr>
          <p:cNvPr id="12" name="Text 8"/>
          <p:cNvSpPr/>
          <p:nvPr/>
        </p:nvSpPr>
        <p:spPr>
          <a:xfrm>
            <a:off x="457200" y="4251960"/>
            <a:ext cx="8321040" cy="658368"/>
          </a:xfrm>
          <a:prstGeom prst="rect">
            <a:avLst/>
          </a:prstGeom>
          <a:noFill/>
          <a:ln/>
        </p:spPr>
        <p:txBody>
          <a:bodyPr wrap="square" rtlCol="0" anchor="ctr"/>
          <a:lstStyle/>
          <a:p>
            <a:pPr marL="0" indent="0">
              <a:buNone/>
            </a:pPr>
            <a:endParaRPr lang="en-US" sz="1050" dirty="0"/>
          </a:p>
        </p:txBody>
      </p:sp>
      <p:sp>
        <p:nvSpPr>
          <p:cNvPr id="4" name="Text 2">
            <a:extLst>
              <a:ext uri="{FF2B5EF4-FFF2-40B4-BE49-F238E27FC236}">
                <a16:creationId xmlns:a16="http://schemas.microsoft.com/office/drawing/2014/main" id="{24D63C17-B5B7-56AF-FA19-01DEBDDEC486}"/>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w="12700">
            <a:solidFill>
              <a:srgbClr val="028090"/>
            </a:solidFill>
            <a:prstDash val="solid"/>
          </a:ln>
        </p:spPr>
        <p:txBody>
          <a:bodyPr/>
          <a:lstStyle/>
          <a:p>
            <a:endParaRPr lang="en-BW"/>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Transmission Quality &amp; Processed Parameter Data</a:t>
            </a:r>
            <a:endParaRPr lang="en-US" sz="1600" dirty="0"/>
          </a:p>
        </p:txBody>
      </p:sp>
      <p:pic>
        <p:nvPicPr>
          <p:cNvPr id="4" name="Image 0" descr="preencoded.png"/>
          <p:cNvPicPr>
            <a:picLocks noChangeAspect="1"/>
          </p:cNvPicPr>
          <p:nvPr/>
        </p:nvPicPr>
        <p:blipFill>
          <a:blip r:embed="rId3"/>
          <a:stretch>
            <a:fillRect/>
          </a:stretch>
        </p:blipFill>
        <p:spPr>
          <a:xfrm>
            <a:off x="228600" y="777240"/>
            <a:ext cx="5120640" cy="3566160"/>
          </a:xfrm>
          <a:prstGeom prst="rect">
            <a:avLst/>
          </a:prstGeom>
        </p:spPr>
      </p:pic>
      <p:pic>
        <p:nvPicPr>
          <p:cNvPr id="5" name="Image 1" descr="preencoded.png"/>
          <p:cNvPicPr>
            <a:picLocks noChangeAspect="1"/>
          </p:cNvPicPr>
          <p:nvPr/>
        </p:nvPicPr>
        <p:blipFill>
          <a:blip r:embed="rId4"/>
          <a:stretch>
            <a:fillRect/>
          </a:stretch>
        </p:blipFill>
        <p:spPr>
          <a:xfrm>
            <a:off x="5486400" y="804672"/>
            <a:ext cx="3383280" cy="2331720"/>
          </a:xfrm>
          <a:prstGeom prst="rect">
            <a:avLst/>
          </a:prstGeom>
        </p:spPr>
      </p:pic>
      <p:sp>
        <p:nvSpPr>
          <p:cNvPr id="6" name="Shape 2"/>
          <p:cNvSpPr/>
          <p:nvPr/>
        </p:nvSpPr>
        <p:spPr>
          <a:xfrm>
            <a:off x="5486400" y="3246120"/>
            <a:ext cx="3383280" cy="749808"/>
          </a:xfrm>
          <a:prstGeom prst="rect">
            <a:avLst/>
          </a:prstGeom>
          <a:solidFill>
            <a:srgbClr val="021E3A">
              <a:alpha val="95000"/>
            </a:srgbClr>
          </a:solidFill>
          <a:ln w="12700">
            <a:solidFill>
              <a:srgbClr val="02C39A"/>
            </a:solidFill>
            <a:prstDash val="solid"/>
          </a:ln>
        </p:spPr>
        <p:txBody>
          <a:bodyPr/>
          <a:lstStyle/>
          <a:p>
            <a:endParaRPr lang="en-BW"/>
          </a:p>
        </p:txBody>
      </p:sp>
      <p:sp>
        <p:nvSpPr>
          <p:cNvPr id="7" name="Shape 3"/>
          <p:cNvSpPr/>
          <p:nvPr/>
        </p:nvSpPr>
        <p:spPr>
          <a:xfrm>
            <a:off x="5486400" y="3246120"/>
            <a:ext cx="73152" cy="749808"/>
          </a:xfrm>
          <a:prstGeom prst="rect">
            <a:avLst/>
          </a:prstGeom>
          <a:solidFill>
            <a:srgbClr val="02C39A"/>
          </a:solidFill>
          <a:ln w="12700">
            <a:solidFill>
              <a:srgbClr val="02C39A"/>
            </a:solidFill>
            <a:prstDash val="solid"/>
          </a:ln>
        </p:spPr>
        <p:txBody>
          <a:bodyPr/>
          <a:lstStyle/>
          <a:p>
            <a:endParaRPr lang="en-BW"/>
          </a:p>
        </p:txBody>
      </p:sp>
      <p:sp>
        <p:nvSpPr>
          <p:cNvPr id="8" name="Text 4"/>
          <p:cNvSpPr/>
          <p:nvPr/>
        </p:nvSpPr>
        <p:spPr>
          <a:xfrm>
            <a:off x="5623560" y="3273552"/>
            <a:ext cx="31546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SNR = 42 dB</a:t>
            </a:r>
            <a:endParaRPr lang="en-US" sz="1100" dirty="0"/>
          </a:p>
        </p:txBody>
      </p:sp>
      <p:sp>
        <p:nvSpPr>
          <p:cNvPr id="9" name="Text 5"/>
          <p:cNvSpPr/>
          <p:nvPr/>
        </p:nvSpPr>
        <p:spPr>
          <a:xfrm>
            <a:off x="5623560" y="3547872"/>
            <a:ext cx="3154680" cy="411480"/>
          </a:xfrm>
          <a:prstGeom prst="rect">
            <a:avLst/>
          </a:prstGeom>
          <a:noFill/>
          <a:ln/>
        </p:spPr>
        <p:txBody>
          <a:bodyPr wrap="square" rtlCol="0" anchor="ctr"/>
          <a:lstStyle/>
          <a:p>
            <a:pPr marL="0" indent="0">
              <a:buNone/>
            </a:pPr>
            <a:r>
              <a:rPr lang="en-US" sz="900" dirty="0">
                <a:solidFill>
                  <a:srgbClr val="D6EAF8"/>
                </a:solidFill>
                <a:latin typeface="Calibri" pitchFamily="34" charset="0"/>
                <a:ea typeface="Calibri" pitchFamily="34" charset="-122"/>
                <a:cs typeface="Calibri" pitchFamily="34" charset="-120"/>
              </a:rPr>
              <a:t>High signal quality — clean data transmission from sensor to dashboard</a:t>
            </a:r>
            <a:endParaRPr lang="en-US" sz="900" dirty="0"/>
          </a:p>
        </p:txBody>
      </p:sp>
      <p:sp>
        <p:nvSpPr>
          <p:cNvPr id="10" name="Shape 6"/>
          <p:cNvSpPr/>
          <p:nvPr/>
        </p:nvSpPr>
        <p:spPr>
          <a:xfrm>
            <a:off x="5532120" y="4069080"/>
            <a:ext cx="3383280" cy="749808"/>
          </a:xfrm>
          <a:prstGeom prst="rect">
            <a:avLst/>
          </a:prstGeom>
          <a:solidFill>
            <a:srgbClr val="021E3A">
              <a:alpha val="95000"/>
            </a:srgbClr>
          </a:solidFill>
          <a:ln w="12700">
            <a:solidFill>
              <a:srgbClr val="028090"/>
            </a:solidFill>
            <a:prstDash val="solid"/>
          </a:ln>
        </p:spPr>
        <p:txBody>
          <a:bodyPr/>
          <a:lstStyle/>
          <a:p>
            <a:endParaRPr lang="en-BW"/>
          </a:p>
        </p:txBody>
      </p:sp>
      <p:sp>
        <p:nvSpPr>
          <p:cNvPr id="11" name="Shape 7"/>
          <p:cNvSpPr/>
          <p:nvPr/>
        </p:nvSpPr>
        <p:spPr>
          <a:xfrm>
            <a:off x="5486400" y="4069080"/>
            <a:ext cx="73152" cy="749808"/>
          </a:xfrm>
          <a:prstGeom prst="rect">
            <a:avLst/>
          </a:prstGeom>
          <a:solidFill>
            <a:srgbClr val="028090"/>
          </a:solidFill>
          <a:ln w="12700">
            <a:solidFill>
              <a:srgbClr val="028090"/>
            </a:solidFill>
            <a:prstDash val="solid"/>
          </a:ln>
        </p:spPr>
        <p:txBody>
          <a:bodyPr/>
          <a:lstStyle/>
          <a:p>
            <a:endParaRPr lang="en-BW"/>
          </a:p>
        </p:txBody>
      </p:sp>
      <p:sp>
        <p:nvSpPr>
          <p:cNvPr id="12" name="Text 8"/>
          <p:cNvSpPr/>
          <p:nvPr/>
        </p:nvSpPr>
        <p:spPr>
          <a:xfrm>
            <a:off x="5623560" y="4096512"/>
            <a:ext cx="31546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BER = 0.34%</a:t>
            </a:r>
            <a:endParaRPr lang="en-US" sz="1100" dirty="0"/>
          </a:p>
        </p:txBody>
      </p:sp>
      <p:sp>
        <p:nvSpPr>
          <p:cNvPr id="13" name="Text 9"/>
          <p:cNvSpPr/>
          <p:nvPr/>
        </p:nvSpPr>
        <p:spPr>
          <a:xfrm>
            <a:off x="5623560" y="4370832"/>
            <a:ext cx="3154680" cy="411480"/>
          </a:xfrm>
          <a:prstGeom prst="rect">
            <a:avLst/>
          </a:prstGeom>
          <a:noFill/>
          <a:ln/>
        </p:spPr>
        <p:txBody>
          <a:bodyPr wrap="square" rtlCol="0" anchor="ctr"/>
          <a:lstStyle/>
          <a:p>
            <a:pPr marL="0" indent="0">
              <a:buNone/>
            </a:pPr>
            <a:r>
              <a:rPr lang="en-US" sz="900" dirty="0">
                <a:solidFill>
                  <a:srgbClr val="D6EAF8"/>
                </a:solidFill>
                <a:latin typeface="Calibri" pitchFamily="34" charset="0"/>
                <a:ea typeface="Calibri" pitchFamily="34" charset="-122"/>
                <a:cs typeface="Calibri" pitchFamily="34" charset="-120"/>
              </a:rPr>
              <a:t>Very low bit-error rate — almost no data loss or corruption in transit</a:t>
            </a:r>
            <a:endParaRPr lang="en-US" sz="900" dirty="0"/>
          </a:p>
        </p:txBody>
      </p:sp>
      <p:sp>
        <p:nvSpPr>
          <p:cNvPr id="14" name="Text 2">
            <a:extLst>
              <a:ext uri="{FF2B5EF4-FFF2-40B4-BE49-F238E27FC236}">
                <a16:creationId xmlns:a16="http://schemas.microsoft.com/office/drawing/2014/main" id="{3DC1402D-DE5C-532E-9871-565B94D61F91}"/>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System Dashboard Demonstration</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6212332" y="1330452"/>
            <a:ext cx="2570480" cy="84124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p:cNvSpPr/>
          <p:nvPr/>
        </p:nvSpPr>
        <p:spPr>
          <a:xfrm>
            <a:off x="6212332" y="1330452"/>
            <a:ext cx="50292" cy="841248"/>
          </a:xfrm>
          <a:prstGeom prst="rect">
            <a:avLst/>
          </a:prstGeom>
          <a:solidFill>
            <a:srgbClr val="065A82"/>
          </a:solidFill>
          <a:ln w="12700">
            <a:solidFill>
              <a:srgbClr val="065A82"/>
            </a:solidFill>
            <a:prstDash val="solid"/>
          </a:ln>
        </p:spPr>
        <p:txBody>
          <a:bodyPr/>
          <a:lstStyle/>
          <a:p>
            <a:endParaRPr lang="en-BW"/>
          </a:p>
        </p:txBody>
      </p:sp>
      <p:sp>
        <p:nvSpPr>
          <p:cNvPr id="8" name="Text 5"/>
          <p:cNvSpPr/>
          <p:nvPr/>
        </p:nvSpPr>
        <p:spPr>
          <a:xfrm>
            <a:off x="6309360" y="1373632"/>
            <a:ext cx="2834640" cy="77724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Fetch Live Water Data Script</a:t>
            </a:r>
            <a:endParaRPr lang="en-US" sz="1200" dirty="0"/>
          </a:p>
        </p:txBody>
      </p:sp>
      <p:sp>
        <p:nvSpPr>
          <p:cNvPr id="10" name="Shape 7"/>
          <p:cNvSpPr/>
          <p:nvPr/>
        </p:nvSpPr>
        <p:spPr>
          <a:xfrm>
            <a:off x="6212332" y="2290572"/>
            <a:ext cx="2570480" cy="84124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1" name="Shape 8"/>
          <p:cNvSpPr/>
          <p:nvPr/>
        </p:nvSpPr>
        <p:spPr>
          <a:xfrm>
            <a:off x="6212332" y="2290572"/>
            <a:ext cx="50292" cy="841248"/>
          </a:xfrm>
          <a:prstGeom prst="rect">
            <a:avLst/>
          </a:prstGeom>
          <a:solidFill>
            <a:srgbClr val="EF4444"/>
          </a:solidFill>
          <a:ln w="12700">
            <a:solidFill>
              <a:srgbClr val="EF4444"/>
            </a:solidFill>
            <a:prstDash val="solid"/>
          </a:ln>
        </p:spPr>
        <p:txBody>
          <a:bodyPr/>
          <a:lstStyle/>
          <a:p>
            <a:endParaRPr lang="en-BW"/>
          </a:p>
        </p:txBody>
      </p:sp>
      <p:sp>
        <p:nvSpPr>
          <p:cNvPr id="12" name="Text 9"/>
          <p:cNvSpPr/>
          <p:nvPr/>
        </p:nvSpPr>
        <p:spPr>
          <a:xfrm>
            <a:off x="6309360" y="2345817"/>
            <a:ext cx="2834640" cy="74295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Simulation Script</a:t>
            </a:r>
            <a:endParaRPr lang="en-US" sz="1200" dirty="0"/>
          </a:p>
        </p:txBody>
      </p:sp>
      <p:sp>
        <p:nvSpPr>
          <p:cNvPr id="14" name="Shape 11"/>
          <p:cNvSpPr/>
          <p:nvPr/>
        </p:nvSpPr>
        <p:spPr>
          <a:xfrm>
            <a:off x="6212332" y="3250692"/>
            <a:ext cx="2570480" cy="84124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5" name="Shape 12"/>
          <p:cNvSpPr/>
          <p:nvPr/>
        </p:nvSpPr>
        <p:spPr>
          <a:xfrm>
            <a:off x="6212332" y="3250692"/>
            <a:ext cx="50292" cy="841248"/>
          </a:xfrm>
          <a:prstGeom prst="rect">
            <a:avLst/>
          </a:prstGeom>
          <a:solidFill>
            <a:srgbClr val="1C7293"/>
          </a:solidFill>
          <a:ln w="12700">
            <a:solidFill>
              <a:srgbClr val="1C7293"/>
            </a:solidFill>
            <a:prstDash val="solid"/>
          </a:ln>
        </p:spPr>
        <p:txBody>
          <a:bodyPr/>
          <a:lstStyle/>
          <a:p>
            <a:endParaRPr lang="en-BW"/>
          </a:p>
        </p:txBody>
      </p:sp>
      <p:sp>
        <p:nvSpPr>
          <p:cNvPr id="16" name="Text 13"/>
          <p:cNvSpPr/>
          <p:nvPr/>
        </p:nvSpPr>
        <p:spPr>
          <a:xfrm>
            <a:off x="6309360" y="3298317"/>
            <a:ext cx="2834640" cy="77724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Dashboard Script</a:t>
            </a:r>
            <a:endParaRPr lang="en-US" sz="1200" dirty="0"/>
          </a:p>
        </p:txBody>
      </p:sp>
      <p:sp>
        <p:nvSpPr>
          <p:cNvPr id="24" name="Text 2">
            <a:extLst>
              <a:ext uri="{FF2B5EF4-FFF2-40B4-BE49-F238E27FC236}">
                <a16:creationId xmlns:a16="http://schemas.microsoft.com/office/drawing/2014/main" id="{CB5E406A-2524-5FEF-663F-98211BE80998}"/>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27" name="Picture 26">
            <a:extLst>
              <a:ext uri="{FF2B5EF4-FFF2-40B4-BE49-F238E27FC236}">
                <a16:creationId xmlns:a16="http://schemas.microsoft.com/office/drawing/2014/main" id="{99C025B1-B31B-589A-2C47-FD483BF50E9F}"/>
              </a:ext>
            </a:extLst>
          </p:cNvPr>
          <p:cNvPicPr>
            <a:picLocks noChangeAspect="1"/>
          </p:cNvPicPr>
          <p:nvPr/>
        </p:nvPicPr>
        <p:blipFill>
          <a:blip r:embed="rId3"/>
          <a:stretch>
            <a:fillRect/>
          </a:stretch>
        </p:blipFill>
        <p:spPr>
          <a:xfrm>
            <a:off x="384048" y="980440"/>
            <a:ext cx="5564765" cy="34955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D0FF1DAB-D2B5-AEDF-5449-67FC4D7CE3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B46073-FBEC-7ABB-C482-95017E867271}"/>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B77DF157-F869-207D-AB7C-853F258023F2}"/>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4FC6632C-5923-C5A4-B9BB-9DDAED872981}"/>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6" name="Shape 3">
            <a:extLst>
              <a:ext uri="{FF2B5EF4-FFF2-40B4-BE49-F238E27FC236}">
                <a16:creationId xmlns:a16="http://schemas.microsoft.com/office/drawing/2014/main" id="{850A57F5-874C-EC5E-F18E-51AA68FBC0E0}"/>
              </a:ext>
            </a:extLst>
          </p:cNvPr>
          <p:cNvSpPr/>
          <p:nvPr/>
        </p:nvSpPr>
        <p:spPr>
          <a:xfrm>
            <a:off x="1147119" y="3655595"/>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996A4A27-BD87-43D5-11BB-1B01CEEC31D2}"/>
              </a:ext>
            </a:extLst>
          </p:cNvPr>
          <p:cNvSpPr/>
          <p:nvPr/>
        </p:nvSpPr>
        <p:spPr>
          <a:xfrm>
            <a:off x="1068832" y="3655595"/>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8DC918F3-2925-8EDC-909E-54268FFCC0DF}"/>
              </a:ext>
            </a:extLst>
          </p:cNvPr>
          <p:cNvSpPr/>
          <p:nvPr/>
        </p:nvSpPr>
        <p:spPr>
          <a:xfrm>
            <a:off x="1306780" y="3659632"/>
            <a:ext cx="6592445" cy="1192164"/>
          </a:xfrm>
          <a:prstGeom prst="rect">
            <a:avLst/>
          </a:prstGeom>
          <a:noFill/>
          <a:ln/>
        </p:spPr>
        <p:txBody>
          <a:bodyPr wrap="square" lIns="0" tIns="0" rIns="0" bIns="0" rtlCol="0" anchor="ctr"/>
          <a:lstStyle/>
          <a:p>
            <a:r>
              <a:rPr lang="en-US" sz="1200" b="1" dirty="0">
                <a:solidFill>
                  <a:srgbClr val="065A82"/>
                </a:solidFill>
                <a:ea typeface="Calibri"/>
                <a:cs typeface="Calibri"/>
              </a:rPr>
              <a:t>Fetch Live Water </a:t>
            </a:r>
            <a:r>
              <a:rPr lang="en-US" sz="1100" b="1" dirty="0">
                <a:solidFill>
                  <a:srgbClr val="065A82"/>
                </a:solidFill>
                <a:ea typeface="Calibri"/>
                <a:cs typeface="Calibri"/>
              </a:rPr>
              <a:t>code takes the normalized dissolved oxygen signal and divides its value range into fixed levels </a:t>
            </a:r>
            <a:r>
              <a:rPr lang="en-US" sz="1200" b="1" dirty="0">
                <a:solidFill>
                  <a:srgbClr val="065A82"/>
                </a:solidFill>
                <a:ea typeface="Calibri"/>
                <a:cs typeface="Calibri"/>
              </a:rPr>
              <a:t>Script </a:t>
            </a:r>
            <a:r>
              <a:rPr lang="en-US" sz="1200" b="1">
                <a:solidFill>
                  <a:srgbClr val="065A82"/>
                </a:solidFill>
                <a:ea typeface="+mn-lt"/>
                <a:cs typeface="+mn-lt"/>
              </a:rPr>
              <a:t>Since we use bits=8, there are:</a:t>
            </a:r>
            <a:endParaRPr lang="en-US" sz="1200" b="1">
              <a:solidFill>
                <a:srgbClr val="000000"/>
              </a:solidFill>
              <a:ea typeface="+mn-lt"/>
              <a:cs typeface="+mn-lt"/>
            </a:endParaRPr>
          </a:p>
          <a:p>
            <a:r>
              <a:rPr lang="en-US" sz="1200" b="1">
                <a:solidFill>
                  <a:srgbClr val="065A82"/>
                </a:solidFill>
                <a:ea typeface="+mn-lt"/>
                <a:cs typeface="+mn-lt"/>
              </a:rPr>
              <a:t>2^8 = 256 levels</a:t>
            </a:r>
            <a:endParaRPr lang="en-US" b="1">
              <a:ea typeface="+mn-lt"/>
              <a:cs typeface="+mn-lt"/>
            </a:endParaRPr>
          </a:p>
          <a:p>
            <a:r>
              <a:rPr lang="en-US" sz="1200" b="1">
                <a:solidFill>
                  <a:srgbClr val="065A82"/>
                </a:solidFill>
                <a:ea typeface="+mn-lt"/>
                <a:cs typeface="+mn-lt"/>
              </a:rPr>
              <a:t>Every sample is rounded to the nearest one of those 256 levels. </a:t>
            </a:r>
            <a:endParaRPr lang="en-US" b="1">
              <a:ea typeface="+mn-lt"/>
              <a:cs typeface="+mn-lt"/>
            </a:endParaRPr>
          </a:p>
          <a:p>
            <a:endParaRPr lang="en-US" sz="1200" b="1" dirty="0">
              <a:solidFill>
                <a:srgbClr val="065A82"/>
              </a:solidFill>
              <a:ea typeface="Calibri"/>
              <a:cs typeface="Calibri"/>
            </a:endParaRPr>
          </a:p>
        </p:txBody>
      </p:sp>
      <p:sp>
        <p:nvSpPr>
          <p:cNvPr id="24" name="Text 2">
            <a:extLst>
              <a:ext uri="{FF2B5EF4-FFF2-40B4-BE49-F238E27FC236}">
                <a16:creationId xmlns:a16="http://schemas.microsoft.com/office/drawing/2014/main" id="{C1045FE2-3CAA-C84E-B246-BAD9F33999D4}"/>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13" name="Picture 12" descr="A computer screen shot of a program code&#10;&#10;AI-generated content may be incorrect.">
            <a:extLst>
              <a:ext uri="{FF2B5EF4-FFF2-40B4-BE49-F238E27FC236}">
                <a16:creationId xmlns:a16="http://schemas.microsoft.com/office/drawing/2014/main" id="{A1C35B9D-7707-33C6-4EAA-AE44A90132FB}"/>
              </a:ext>
            </a:extLst>
          </p:cNvPr>
          <p:cNvPicPr>
            <a:picLocks noChangeAspect="1"/>
          </p:cNvPicPr>
          <p:nvPr/>
        </p:nvPicPr>
        <p:blipFill>
          <a:blip r:embed="rId3"/>
          <a:stretch>
            <a:fillRect/>
          </a:stretch>
        </p:blipFill>
        <p:spPr>
          <a:xfrm>
            <a:off x="939452" y="1119529"/>
            <a:ext cx="7265096" cy="2254655"/>
          </a:xfrm>
          <a:prstGeom prst="rect">
            <a:avLst/>
          </a:prstGeom>
        </p:spPr>
      </p:pic>
    </p:spTree>
    <p:extLst>
      <p:ext uri="{BB962C8B-B14F-4D97-AF65-F5344CB8AC3E}">
        <p14:creationId xmlns:p14="http://schemas.microsoft.com/office/powerpoint/2010/main" val="466727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0FA91545-F470-F5A4-535D-B94F07FEBE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2329E5C-EB00-434E-0C8E-583A322309EB}"/>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7FFF206C-A75A-51A0-CD76-64D6A83D41B9}"/>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3C26ACDC-552B-B592-464E-267A14BA556B}"/>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6" name="Shape 3">
            <a:extLst>
              <a:ext uri="{FF2B5EF4-FFF2-40B4-BE49-F238E27FC236}">
                <a16:creationId xmlns:a16="http://schemas.microsoft.com/office/drawing/2014/main" id="{EC6F0C75-8C73-383C-FF7C-3D97DA765134}"/>
              </a:ext>
            </a:extLst>
          </p:cNvPr>
          <p:cNvSpPr/>
          <p:nvPr/>
        </p:nvSpPr>
        <p:spPr>
          <a:xfrm>
            <a:off x="1139290" y="1698403"/>
            <a:ext cx="6860645" cy="103696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A93DE5C1-A14C-81F0-1CD6-7EF1056607A1}"/>
              </a:ext>
            </a:extLst>
          </p:cNvPr>
          <p:cNvSpPr/>
          <p:nvPr/>
        </p:nvSpPr>
        <p:spPr>
          <a:xfrm>
            <a:off x="1061003" y="1698403"/>
            <a:ext cx="81608" cy="1036968"/>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AA41B635-B070-9A8A-5F7F-B8AB98505F00}"/>
              </a:ext>
            </a:extLst>
          </p:cNvPr>
          <p:cNvSpPr/>
          <p:nvPr/>
        </p:nvSpPr>
        <p:spPr>
          <a:xfrm>
            <a:off x="1275465" y="1796385"/>
            <a:ext cx="6592445" cy="1160849"/>
          </a:xfrm>
          <a:prstGeom prst="rect">
            <a:avLst/>
          </a:prstGeom>
          <a:noFill/>
          <a:ln/>
        </p:spPr>
        <p:txBody>
          <a:bodyPr wrap="square" lIns="0" tIns="0" rIns="0" bIns="0" rtlCol="0" anchor="ctr"/>
          <a:lstStyle/>
          <a:p>
            <a:r>
              <a:rPr lang="en-US" sz="1200">
                <a:solidFill>
                  <a:srgbClr val="065A82"/>
                </a:solidFill>
                <a:ea typeface="+mn-lt"/>
                <a:cs typeface="+mn-lt"/>
              </a:rPr>
              <a:t>This converts each quantized number into binary bits.</a:t>
            </a:r>
            <a:endParaRPr lang="en-US"/>
          </a:p>
          <a:p>
            <a:r>
              <a:rPr lang="en-US" sz="1200" dirty="0">
                <a:solidFill>
                  <a:srgbClr val="065A82"/>
                </a:solidFill>
                <a:ea typeface="+mn-lt"/>
                <a:cs typeface="+mn-lt"/>
              </a:rPr>
              <a:t>For example, a level like 145 becomes an 8-bit binary </a:t>
            </a:r>
            <a:r>
              <a:rPr lang="en-US" sz="1200">
                <a:solidFill>
                  <a:srgbClr val="065A82"/>
                </a:solidFill>
                <a:ea typeface="+mn-lt"/>
                <a:cs typeface="+mn-lt"/>
              </a:rPr>
              <a:t>value. </a:t>
            </a:r>
            <a:endParaRPr lang="en-US" dirty="0">
              <a:solidFill>
                <a:srgbClr val="000000"/>
              </a:solidFill>
              <a:ea typeface="+mn-lt"/>
              <a:cs typeface="+mn-lt"/>
            </a:endParaRPr>
          </a:p>
          <a:p>
            <a:r>
              <a:rPr lang="en-US" sz="1200">
                <a:solidFill>
                  <a:srgbClr val="065A82"/>
                </a:solidFill>
                <a:ea typeface="+mn-lt"/>
                <a:cs typeface="+mn-lt"/>
              </a:rPr>
              <a:t>After</a:t>
            </a:r>
            <a:r>
              <a:rPr lang="en-US" sz="1200" dirty="0">
                <a:solidFill>
                  <a:srgbClr val="065A82"/>
                </a:solidFill>
                <a:ea typeface="+mn-lt"/>
                <a:cs typeface="+mn-lt"/>
              </a:rPr>
              <a:t> choosing the nearest ruler mark, the code writes down that mark number in binary language so the communication system can send it.</a:t>
            </a:r>
            <a:endParaRPr lang="en-US">
              <a:solidFill>
                <a:srgbClr val="000000"/>
              </a:solidFill>
              <a:ea typeface="+mn-lt"/>
              <a:cs typeface="+mn-lt"/>
            </a:endParaRPr>
          </a:p>
          <a:p>
            <a:endParaRPr lang="en-US" sz="1200" dirty="0">
              <a:solidFill>
                <a:srgbClr val="065A82"/>
              </a:solidFill>
              <a:ea typeface="+mn-lt"/>
              <a:cs typeface="+mn-lt"/>
            </a:endParaRPr>
          </a:p>
          <a:p>
            <a:endParaRPr lang="en-US" sz="1200" dirty="0">
              <a:solidFill>
                <a:srgbClr val="065A82"/>
              </a:solidFill>
              <a:ea typeface="Calibri"/>
              <a:cs typeface="Calibri"/>
            </a:endParaRPr>
          </a:p>
        </p:txBody>
      </p:sp>
      <p:sp>
        <p:nvSpPr>
          <p:cNvPr id="24" name="Text 2">
            <a:extLst>
              <a:ext uri="{FF2B5EF4-FFF2-40B4-BE49-F238E27FC236}">
                <a16:creationId xmlns:a16="http://schemas.microsoft.com/office/drawing/2014/main" id="{BDA44F44-AAF5-A01A-54A7-44FFA742755D}"/>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5" name="Picture 4">
            <a:extLst>
              <a:ext uri="{FF2B5EF4-FFF2-40B4-BE49-F238E27FC236}">
                <a16:creationId xmlns:a16="http://schemas.microsoft.com/office/drawing/2014/main" id="{1BE63A60-BC10-566F-7957-0C7704D26FE4}"/>
              </a:ext>
            </a:extLst>
          </p:cNvPr>
          <p:cNvPicPr>
            <a:picLocks noChangeAspect="1"/>
          </p:cNvPicPr>
          <p:nvPr/>
        </p:nvPicPr>
        <p:blipFill>
          <a:blip r:embed="rId3"/>
          <a:stretch>
            <a:fillRect/>
          </a:stretch>
        </p:blipFill>
        <p:spPr>
          <a:xfrm>
            <a:off x="1031048" y="779876"/>
            <a:ext cx="6972300" cy="781050"/>
          </a:xfrm>
          <a:prstGeom prst="rect">
            <a:avLst/>
          </a:prstGeom>
        </p:spPr>
      </p:pic>
      <p:pic>
        <p:nvPicPr>
          <p:cNvPr id="9" name="Picture 8" descr="A screen shot of a computer code&#10;&#10;AI-generated content may be incorrect.">
            <a:extLst>
              <a:ext uri="{FF2B5EF4-FFF2-40B4-BE49-F238E27FC236}">
                <a16:creationId xmlns:a16="http://schemas.microsoft.com/office/drawing/2014/main" id="{2BA8B9EC-2831-FE5E-D79A-4ECB71758D9C}"/>
              </a:ext>
            </a:extLst>
          </p:cNvPr>
          <p:cNvPicPr>
            <a:picLocks noChangeAspect="1"/>
          </p:cNvPicPr>
          <p:nvPr/>
        </p:nvPicPr>
        <p:blipFill>
          <a:blip r:embed="rId4"/>
          <a:stretch>
            <a:fillRect/>
          </a:stretch>
        </p:blipFill>
        <p:spPr>
          <a:xfrm>
            <a:off x="1173598" y="2846344"/>
            <a:ext cx="6734175" cy="828675"/>
          </a:xfrm>
          <a:prstGeom prst="rect">
            <a:avLst/>
          </a:prstGeom>
        </p:spPr>
      </p:pic>
      <p:sp>
        <p:nvSpPr>
          <p:cNvPr id="10" name="Shape 3">
            <a:extLst>
              <a:ext uri="{FF2B5EF4-FFF2-40B4-BE49-F238E27FC236}">
                <a16:creationId xmlns:a16="http://schemas.microsoft.com/office/drawing/2014/main" id="{B12EC4DB-E229-60E9-8FEC-12BACCF21768}"/>
              </a:ext>
            </a:extLst>
          </p:cNvPr>
          <p:cNvSpPr/>
          <p:nvPr/>
        </p:nvSpPr>
        <p:spPr>
          <a:xfrm>
            <a:off x="1107974" y="3804341"/>
            <a:ext cx="6860645" cy="1036968"/>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1" name="Shape 4">
            <a:extLst>
              <a:ext uri="{FF2B5EF4-FFF2-40B4-BE49-F238E27FC236}">
                <a16:creationId xmlns:a16="http://schemas.microsoft.com/office/drawing/2014/main" id="{CB610B25-8C29-0662-AE17-1814E54044E9}"/>
              </a:ext>
            </a:extLst>
          </p:cNvPr>
          <p:cNvSpPr/>
          <p:nvPr/>
        </p:nvSpPr>
        <p:spPr>
          <a:xfrm>
            <a:off x="1029687" y="3804341"/>
            <a:ext cx="81608" cy="1036968"/>
          </a:xfrm>
          <a:prstGeom prst="rect">
            <a:avLst/>
          </a:prstGeom>
          <a:solidFill>
            <a:srgbClr val="065A82"/>
          </a:solidFill>
          <a:ln w="12700">
            <a:solidFill>
              <a:srgbClr val="065A82"/>
            </a:solidFill>
            <a:prstDash val="solid"/>
          </a:ln>
        </p:spPr>
        <p:txBody>
          <a:bodyPr/>
          <a:lstStyle/>
          <a:p>
            <a:endParaRPr lang="en-BW"/>
          </a:p>
        </p:txBody>
      </p:sp>
      <p:sp>
        <p:nvSpPr>
          <p:cNvPr id="12" name="Text 5">
            <a:extLst>
              <a:ext uri="{FF2B5EF4-FFF2-40B4-BE49-F238E27FC236}">
                <a16:creationId xmlns:a16="http://schemas.microsoft.com/office/drawing/2014/main" id="{230DB39A-3B49-5FBD-25BD-20C9CF148DE5}"/>
              </a:ext>
            </a:extLst>
          </p:cNvPr>
          <p:cNvSpPr/>
          <p:nvPr/>
        </p:nvSpPr>
        <p:spPr>
          <a:xfrm>
            <a:off x="1267635" y="3902323"/>
            <a:ext cx="6592445" cy="1333081"/>
          </a:xfrm>
          <a:prstGeom prst="rect">
            <a:avLst/>
          </a:prstGeom>
          <a:noFill/>
          <a:ln/>
        </p:spPr>
        <p:txBody>
          <a:bodyPr wrap="square" lIns="0" tIns="0" rIns="0" bIns="0" rtlCol="0" anchor="ctr"/>
          <a:lstStyle/>
          <a:p>
            <a:r>
              <a:rPr lang="en-US" sz="1200">
                <a:solidFill>
                  <a:srgbClr val="065A82"/>
                </a:solidFill>
                <a:ea typeface="+mn-lt"/>
                <a:cs typeface="+mn-lt"/>
              </a:rPr>
              <a:t>After transmission, the received bits are grouped back into 8-bit chunks and converted into numbers again.</a:t>
            </a:r>
            <a:r>
              <a:rPr lang="en-US" sz="1200" dirty="0">
                <a:solidFill>
                  <a:srgbClr val="065A82"/>
                </a:solidFill>
                <a:ea typeface="+mn-lt"/>
                <a:cs typeface="+mn-lt"/>
              </a:rPr>
              <a:t> </a:t>
            </a:r>
            <a:endParaRPr lang="en-US" dirty="0">
              <a:solidFill>
                <a:srgbClr val="000000"/>
              </a:solidFill>
              <a:ea typeface="+mn-lt"/>
              <a:cs typeface="+mn-lt"/>
            </a:endParaRPr>
          </a:p>
          <a:p>
            <a:r>
              <a:rPr lang="en-US" sz="1200" dirty="0">
                <a:solidFill>
                  <a:srgbClr val="065A82"/>
                </a:solidFill>
                <a:ea typeface="+mn-lt"/>
                <a:cs typeface="+mn-lt"/>
              </a:rPr>
              <a:t>The receiver takes the stream of 1s and 0s and groups them back into proper 8-bit words so they become numbers again.</a:t>
            </a:r>
            <a:endParaRPr lang="en-US" dirty="0">
              <a:ea typeface="+mn-lt"/>
              <a:cs typeface="+mn-lt"/>
            </a:endParaRPr>
          </a:p>
          <a:p>
            <a:endParaRPr lang="en-US" sz="1200" dirty="0">
              <a:solidFill>
                <a:srgbClr val="065A82"/>
              </a:solidFill>
              <a:ea typeface="+mn-lt"/>
              <a:cs typeface="+mn-lt"/>
            </a:endParaRPr>
          </a:p>
          <a:p>
            <a:endParaRPr lang="en-US" sz="1200" dirty="0">
              <a:solidFill>
                <a:srgbClr val="065A82"/>
              </a:solidFill>
              <a:ea typeface="+mn-lt"/>
              <a:cs typeface="+mn-lt"/>
            </a:endParaRPr>
          </a:p>
          <a:p>
            <a:endParaRPr lang="en-US" sz="1200" dirty="0">
              <a:solidFill>
                <a:srgbClr val="065A82"/>
              </a:solidFill>
              <a:ea typeface="Calibri"/>
              <a:cs typeface="Calibri"/>
            </a:endParaRPr>
          </a:p>
        </p:txBody>
      </p:sp>
    </p:spTree>
    <p:extLst>
      <p:ext uri="{BB962C8B-B14F-4D97-AF65-F5344CB8AC3E}">
        <p14:creationId xmlns:p14="http://schemas.microsoft.com/office/powerpoint/2010/main" val="2167570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851BFC23-018A-4917-1E9E-1209658F9F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793117-4849-7D48-2ED7-68B9B9F76C83}"/>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A26F245E-9AC5-8CDE-DA99-7B3F44BC62BE}"/>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C10CDEB4-EAAB-8A74-56C7-786E03413366}"/>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6" name="Shape 3">
            <a:extLst>
              <a:ext uri="{FF2B5EF4-FFF2-40B4-BE49-F238E27FC236}">
                <a16:creationId xmlns:a16="http://schemas.microsoft.com/office/drawing/2014/main" id="{6AA86C75-4BC1-93D6-D42B-06B7931C36E3}"/>
              </a:ext>
            </a:extLst>
          </p:cNvPr>
          <p:cNvSpPr/>
          <p:nvPr/>
        </p:nvSpPr>
        <p:spPr>
          <a:xfrm>
            <a:off x="1233235" y="2943177"/>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971776EA-D0A3-74C2-EB8A-0B196C185D87}"/>
              </a:ext>
            </a:extLst>
          </p:cNvPr>
          <p:cNvSpPr/>
          <p:nvPr/>
        </p:nvSpPr>
        <p:spPr>
          <a:xfrm>
            <a:off x="1154948" y="2943177"/>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C2788D8F-85AB-9FB5-AC87-CC8F7189A55A}"/>
              </a:ext>
            </a:extLst>
          </p:cNvPr>
          <p:cNvSpPr/>
          <p:nvPr/>
        </p:nvSpPr>
        <p:spPr>
          <a:xfrm>
            <a:off x="1392896" y="2947214"/>
            <a:ext cx="6592445" cy="1192164"/>
          </a:xfrm>
          <a:prstGeom prst="rect">
            <a:avLst/>
          </a:prstGeom>
          <a:noFill/>
          <a:ln/>
        </p:spPr>
        <p:txBody>
          <a:bodyPr wrap="square" lIns="0" tIns="0" rIns="0" bIns="0" rtlCol="0" anchor="ctr"/>
          <a:lstStyle/>
          <a:p>
            <a:r>
              <a:rPr lang="en-US" sz="1200">
                <a:solidFill>
                  <a:srgbClr val="065A82"/>
                </a:solidFill>
                <a:ea typeface="Calibri"/>
                <a:cs typeface="Calibri"/>
              </a:rPr>
              <a:t>This turns the decoded quantized levels </a:t>
            </a:r>
            <a:r>
              <a:rPr lang="en-US" sz="1200">
                <a:solidFill>
                  <a:srgbClr val="065A82"/>
                </a:solidFill>
                <a:ea typeface="+mn-lt"/>
                <a:cs typeface="+mn-lt"/>
              </a:rPr>
              <a:t>back </a:t>
            </a:r>
            <a:r>
              <a:rPr lang="en-US" sz="1200">
                <a:solidFill>
                  <a:srgbClr val="065A82"/>
                </a:solidFill>
                <a:ea typeface="Calibri"/>
                <a:cs typeface="Calibri"/>
              </a:rPr>
              <a:t>into a reconstructed signal.</a:t>
            </a:r>
            <a:endParaRPr lang="en-US" sz="1200"/>
          </a:p>
          <a:p>
            <a:r>
              <a:rPr lang="en-US" sz="1200" dirty="0">
                <a:solidFill>
                  <a:srgbClr val="065A82"/>
                </a:solidFill>
                <a:ea typeface="+mn-lt"/>
                <a:cs typeface="+mn-lt"/>
              </a:rPr>
              <a:t>convert them back into ruler marks, and then estimate the original water signal from those marks.</a:t>
            </a:r>
            <a:endParaRPr lang="en-US" sz="1200" dirty="0"/>
          </a:p>
          <a:p>
            <a:r>
              <a:rPr lang="en-US" sz="1200" dirty="0">
                <a:solidFill>
                  <a:srgbClr val="065A82"/>
                </a:solidFill>
                <a:ea typeface="Calibri"/>
                <a:cs typeface="Calibri"/>
              </a:rPr>
              <a:t>As </a:t>
            </a:r>
            <a:r>
              <a:rPr lang="en-US" sz="1200" dirty="0" err="1">
                <a:solidFill>
                  <a:srgbClr val="065A82"/>
                </a:solidFill>
                <a:ea typeface="Calibri"/>
                <a:cs typeface="Calibri"/>
              </a:rPr>
              <a:t>as</a:t>
            </a:r>
            <a:r>
              <a:rPr lang="en-US" sz="1200" dirty="0">
                <a:solidFill>
                  <a:srgbClr val="065A82"/>
                </a:solidFill>
                <a:ea typeface="Calibri"/>
                <a:cs typeface="Calibri"/>
              </a:rPr>
              <a:t> note this means that the system has a lot of data accuracy limitations because most values have gone through a lot of estimated values.</a:t>
            </a:r>
          </a:p>
          <a:p>
            <a:endParaRPr lang="en-US" sz="1200" b="1" dirty="0">
              <a:solidFill>
                <a:srgbClr val="065A82"/>
              </a:solidFill>
              <a:ea typeface="Calibri"/>
              <a:cs typeface="Calibri"/>
            </a:endParaRPr>
          </a:p>
        </p:txBody>
      </p:sp>
      <p:sp>
        <p:nvSpPr>
          <p:cNvPr id="24" name="Text 2">
            <a:extLst>
              <a:ext uri="{FF2B5EF4-FFF2-40B4-BE49-F238E27FC236}">
                <a16:creationId xmlns:a16="http://schemas.microsoft.com/office/drawing/2014/main" id="{4C36D6B1-2829-4923-DD33-582B40C3FF02}"/>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5" name="Picture 4" descr="A screen shot of a computer&#10;&#10;AI-generated content may be incorrect.">
            <a:extLst>
              <a:ext uri="{FF2B5EF4-FFF2-40B4-BE49-F238E27FC236}">
                <a16:creationId xmlns:a16="http://schemas.microsoft.com/office/drawing/2014/main" id="{2B0DC402-BEEA-5008-3CBD-3C50A7ABCDCA}"/>
              </a:ext>
            </a:extLst>
          </p:cNvPr>
          <p:cNvPicPr>
            <a:picLocks noChangeAspect="1"/>
          </p:cNvPicPr>
          <p:nvPr/>
        </p:nvPicPr>
        <p:blipFill>
          <a:blip r:embed="rId3"/>
          <a:stretch>
            <a:fillRect/>
          </a:stretch>
        </p:blipFill>
        <p:spPr>
          <a:xfrm>
            <a:off x="360124" y="1287001"/>
            <a:ext cx="8486384" cy="1152492"/>
          </a:xfrm>
          <a:prstGeom prst="rect">
            <a:avLst/>
          </a:prstGeom>
        </p:spPr>
      </p:pic>
    </p:spTree>
    <p:extLst>
      <p:ext uri="{BB962C8B-B14F-4D97-AF65-F5344CB8AC3E}">
        <p14:creationId xmlns:p14="http://schemas.microsoft.com/office/powerpoint/2010/main" val="355017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07A21A3C-2B16-8BFD-AFA5-A5128200C5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A77F02-5578-26AB-3D2C-58CEC452B38E}"/>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9167E4E9-45D0-A6AB-46E6-3AA8B011DB56}"/>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4652AA29-0A26-F784-EBDD-C80BECFC649E}"/>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6" name="Shape 3">
            <a:extLst>
              <a:ext uri="{FF2B5EF4-FFF2-40B4-BE49-F238E27FC236}">
                <a16:creationId xmlns:a16="http://schemas.microsoft.com/office/drawing/2014/main" id="{22F6057C-0B67-9811-5F68-90DEEC940237}"/>
              </a:ext>
            </a:extLst>
          </p:cNvPr>
          <p:cNvSpPr/>
          <p:nvPr/>
        </p:nvSpPr>
        <p:spPr>
          <a:xfrm>
            <a:off x="1233235" y="2943177"/>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EBCCE143-1952-E317-536D-E0C07014E6C2}"/>
              </a:ext>
            </a:extLst>
          </p:cNvPr>
          <p:cNvSpPr/>
          <p:nvPr/>
        </p:nvSpPr>
        <p:spPr>
          <a:xfrm>
            <a:off x="1154948" y="2943177"/>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9CF7EBC0-DA8F-D230-2966-38FCCEF70CAE}"/>
              </a:ext>
            </a:extLst>
          </p:cNvPr>
          <p:cNvSpPr/>
          <p:nvPr/>
        </p:nvSpPr>
        <p:spPr>
          <a:xfrm>
            <a:off x="1392896" y="2947214"/>
            <a:ext cx="6592445" cy="1192164"/>
          </a:xfrm>
          <a:prstGeom prst="rect">
            <a:avLst/>
          </a:prstGeom>
          <a:noFill/>
          <a:ln/>
        </p:spPr>
        <p:txBody>
          <a:bodyPr wrap="square" lIns="0" tIns="0" rIns="0" bIns="0" rtlCol="0" anchor="ctr"/>
          <a:lstStyle/>
          <a:p>
            <a:r>
              <a:rPr lang="en-US" sz="1200">
                <a:solidFill>
                  <a:srgbClr val="065A82"/>
                </a:solidFill>
                <a:ea typeface="+mn-lt"/>
                <a:cs typeface="+mn-lt"/>
              </a:rPr>
              <a:t>After PCM creates the bitstream, BPSK converts the bits into a transmitted signal. Instead of sending plain 1s and 0s, it sends signal values with two opposite states.</a:t>
            </a:r>
            <a:endParaRPr lang="en-US">
              <a:ea typeface="+mn-lt"/>
              <a:cs typeface="+mn-lt"/>
            </a:endParaRPr>
          </a:p>
          <a:p>
            <a:endParaRPr lang="en-US" sz="1200" dirty="0">
              <a:solidFill>
                <a:srgbClr val="065A82"/>
              </a:solidFill>
              <a:ea typeface="Calibri"/>
              <a:cs typeface="Calibri"/>
            </a:endParaRPr>
          </a:p>
        </p:txBody>
      </p:sp>
      <p:sp>
        <p:nvSpPr>
          <p:cNvPr id="24" name="Text 2">
            <a:extLst>
              <a:ext uri="{FF2B5EF4-FFF2-40B4-BE49-F238E27FC236}">
                <a16:creationId xmlns:a16="http://schemas.microsoft.com/office/drawing/2014/main" id="{56685469-336D-51F9-BB83-4DB256AA3A30}"/>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9" name="Picture 8" descr="A screen shot of a computer&#10;&#10;AI-generated content may be incorrect.">
            <a:extLst>
              <a:ext uri="{FF2B5EF4-FFF2-40B4-BE49-F238E27FC236}">
                <a16:creationId xmlns:a16="http://schemas.microsoft.com/office/drawing/2014/main" id="{869B1A36-D6F7-5461-887D-B62BE3E9E5E2}"/>
              </a:ext>
            </a:extLst>
          </p:cNvPr>
          <p:cNvPicPr>
            <a:picLocks noChangeAspect="1"/>
          </p:cNvPicPr>
          <p:nvPr/>
        </p:nvPicPr>
        <p:blipFill>
          <a:blip r:embed="rId3"/>
          <a:stretch>
            <a:fillRect/>
          </a:stretch>
        </p:blipFill>
        <p:spPr>
          <a:xfrm>
            <a:off x="1834150" y="1425554"/>
            <a:ext cx="5162550" cy="695325"/>
          </a:xfrm>
          <a:prstGeom prst="rect">
            <a:avLst/>
          </a:prstGeom>
        </p:spPr>
      </p:pic>
    </p:spTree>
    <p:extLst>
      <p:ext uri="{BB962C8B-B14F-4D97-AF65-F5344CB8AC3E}">
        <p14:creationId xmlns:p14="http://schemas.microsoft.com/office/powerpoint/2010/main" val="197299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240C593D-C2DC-6E2F-FF0C-E6A485AB92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E3B6AB-701D-D0A9-2317-C20E63E57B4A}"/>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7ABCB33B-C0A9-F976-08C9-119E7004D417}"/>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508C8D1F-9736-DD2E-E858-3362D7EC6F18}"/>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6" name="Shape 3">
            <a:extLst>
              <a:ext uri="{FF2B5EF4-FFF2-40B4-BE49-F238E27FC236}">
                <a16:creationId xmlns:a16="http://schemas.microsoft.com/office/drawing/2014/main" id="{6BFD6B3A-E928-5DE6-E279-D70675BD3B61}"/>
              </a:ext>
            </a:extLst>
          </p:cNvPr>
          <p:cNvSpPr/>
          <p:nvPr/>
        </p:nvSpPr>
        <p:spPr>
          <a:xfrm>
            <a:off x="1256721" y="2951006"/>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898B1DE5-E68F-17D8-E35B-D2CF67A1B476}"/>
              </a:ext>
            </a:extLst>
          </p:cNvPr>
          <p:cNvSpPr/>
          <p:nvPr/>
        </p:nvSpPr>
        <p:spPr>
          <a:xfrm>
            <a:off x="1154948" y="2943177"/>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125E095E-8A16-BC75-380D-759A5DD1398B}"/>
              </a:ext>
            </a:extLst>
          </p:cNvPr>
          <p:cNvSpPr/>
          <p:nvPr/>
        </p:nvSpPr>
        <p:spPr>
          <a:xfrm>
            <a:off x="1392896" y="2884584"/>
            <a:ext cx="6592445" cy="1192164"/>
          </a:xfrm>
          <a:prstGeom prst="rect">
            <a:avLst/>
          </a:prstGeom>
          <a:noFill/>
          <a:ln/>
        </p:spPr>
        <p:txBody>
          <a:bodyPr wrap="square" lIns="0" tIns="0" rIns="0" bIns="0" rtlCol="0" anchor="ctr"/>
          <a:lstStyle/>
          <a:p>
            <a:r>
              <a:rPr lang="en-US" sz="1200">
                <a:solidFill>
                  <a:srgbClr val="065A82"/>
                </a:solidFill>
                <a:ea typeface="+mn-lt"/>
                <a:cs typeface="+mn-lt"/>
              </a:rPr>
              <a:t>standard noise model used in communication systems to simulate random interference. In code, it is the virtual </a:t>
            </a:r>
            <a:r>
              <a:rPr lang="en-US" sz="1200" dirty="0">
                <a:solidFill>
                  <a:srgbClr val="065A82"/>
                </a:solidFill>
                <a:ea typeface="+mn-lt"/>
                <a:cs typeface="+mn-lt"/>
              </a:rPr>
              <a:t>channel disturbance added to the BPSK signal.</a:t>
            </a:r>
          </a:p>
          <a:p>
            <a:r>
              <a:rPr lang="en-US" sz="1200">
                <a:solidFill>
                  <a:srgbClr val="065A82"/>
                </a:solidFill>
                <a:ea typeface="Calibri"/>
                <a:cs typeface="Calibri"/>
              </a:rPr>
              <a:t>The function first estimates the signal power. Then it uses the chosen SNR to calculate how strong the noise should be. Then it creates random Gaussian noise and adds it to the transmitted signal. </a:t>
            </a:r>
            <a:endParaRPr lang="en-US" sz="1200">
              <a:solidFill>
                <a:srgbClr val="000000"/>
              </a:solidFill>
              <a:ea typeface="Calibri"/>
              <a:cs typeface="Calibri"/>
            </a:endParaRPr>
          </a:p>
          <a:p>
            <a:r>
              <a:rPr lang="en-US" sz="1100">
                <a:solidFill>
                  <a:srgbClr val="065A82"/>
                </a:solidFill>
                <a:ea typeface="Calibri"/>
                <a:cs typeface="Calibri"/>
              </a:rPr>
              <a:t>WHY: It lets you test how reliable your telemetry system is under realistic communication conditions</a:t>
            </a:r>
            <a:endParaRPr lang="en-US"/>
          </a:p>
        </p:txBody>
      </p:sp>
      <p:sp>
        <p:nvSpPr>
          <p:cNvPr id="24" name="Text 2">
            <a:extLst>
              <a:ext uri="{FF2B5EF4-FFF2-40B4-BE49-F238E27FC236}">
                <a16:creationId xmlns:a16="http://schemas.microsoft.com/office/drawing/2014/main" id="{D75F559F-779F-8C35-1C5B-D335E56CC505}"/>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5" name="Picture 4" descr="A screen shot of a computer program&#10;&#10;AI-generated content may be incorrect.">
            <a:extLst>
              <a:ext uri="{FF2B5EF4-FFF2-40B4-BE49-F238E27FC236}">
                <a16:creationId xmlns:a16="http://schemas.microsoft.com/office/drawing/2014/main" id="{9DE30CEA-86CC-C454-CBC5-76F33BE487B7}"/>
              </a:ext>
            </a:extLst>
          </p:cNvPr>
          <p:cNvPicPr>
            <a:picLocks noChangeAspect="1"/>
          </p:cNvPicPr>
          <p:nvPr/>
        </p:nvPicPr>
        <p:blipFill>
          <a:blip r:embed="rId3"/>
          <a:stretch>
            <a:fillRect/>
          </a:stretch>
        </p:blipFill>
        <p:spPr>
          <a:xfrm>
            <a:off x="598053" y="1094658"/>
            <a:ext cx="8010525" cy="1685925"/>
          </a:xfrm>
          <a:prstGeom prst="rect">
            <a:avLst/>
          </a:prstGeom>
        </p:spPr>
      </p:pic>
    </p:spTree>
    <p:extLst>
      <p:ext uri="{BB962C8B-B14F-4D97-AF65-F5344CB8AC3E}">
        <p14:creationId xmlns:p14="http://schemas.microsoft.com/office/powerpoint/2010/main" val="915098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BCAAEA11-5E6D-206A-54F7-A5F700B807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132038-AC92-D280-3867-702F43453E0C}"/>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8978D9EA-E0D7-0CE3-9D4D-6557A0188C27}"/>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BCD031F8-5DE6-B7A4-0209-18883BDAFC98}"/>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6" name="Shape 3">
            <a:extLst>
              <a:ext uri="{FF2B5EF4-FFF2-40B4-BE49-F238E27FC236}">
                <a16:creationId xmlns:a16="http://schemas.microsoft.com/office/drawing/2014/main" id="{82EDF9EA-AFFA-1E58-A552-4B6CE854637D}"/>
              </a:ext>
            </a:extLst>
          </p:cNvPr>
          <p:cNvSpPr/>
          <p:nvPr/>
        </p:nvSpPr>
        <p:spPr>
          <a:xfrm>
            <a:off x="1256721" y="2951006"/>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8993601B-C04D-B46A-7B05-D803DAF8106F}"/>
              </a:ext>
            </a:extLst>
          </p:cNvPr>
          <p:cNvSpPr/>
          <p:nvPr/>
        </p:nvSpPr>
        <p:spPr>
          <a:xfrm>
            <a:off x="1154948" y="2943177"/>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2118FDB4-D95F-BFFD-9608-7F812DF55966}"/>
              </a:ext>
            </a:extLst>
          </p:cNvPr>
          <p:cNvSpPr/>
          <p:nvPr/>
        </p:nvSpPr>
        <p:spPr>
          <a:xfrm>
            <a:off x="1392896" y="2884584"/>
            <a:ext cx="6592445" cy="1192164"/>
          </a:xfrm>
          <a:prstGeom prst="rect">
            <a:avLst/>
          </a:prstGeom>
          <a:noFill/>
          <a:ln/>
        </p:spPr>
        <p:txBody>
          <a:bodyPr wrap="square" lIns="0" tIns="0" rIns="0" bIns="0" rtlCol="0" anchor="ctr"/>
          <a:lstStyle/>
          <a:p>
            <a:r>
              <a:rPr lang="en-US" sz="1200">
                <a:solidFill>
                  <a:srgbClr val="065A82"/>
                </a:solidFill>
                <a:ea typeface="+mn-lt"/>
                <a:cs typeface="+mn-lt"/>
              </a:rPr>
              <a:t>If BER tells you how many bits were wrong, RMSE tells you how wrong the final recovered water signal became.</a:t>
            </a:r>
            <a:endParaRPr lang="en-US">
              <a:ea typeface="+mn-lt"/>
              <a:cs typeface="+mn-lt"/>
            </a:endParaRPr>
          </a:p>
          <a:p>
            <a:r>
              <a:rPr lang="en-US" sz="1200">
                <a:solidFill>
                  <a:srgbClr val="065A82"/>
                </a:solidFill>
                <a:ea typeface="+mn-lt"/>
                <a:cs typeface="+mn-lt"/>
              </a:rPr>
              <a:t>It is like checking how far your copied drawing is from the original drawing, point by point.</a:t>
            </a:r>
            <a:endParaRPr lang="en-US"/>
          </a:p>
          <a:p>
            <a:r>
              <a:rPr lang="en-US" sz="1100">
                <a:solidFill>
                  <a:srgbClr val="065A82"/>
                </a:solidFill>
                <a:ea typeface="Calibri"/>
                <a:cs typeface="Calibri"/>
              </a:rPr>
              <a:t>RMSE tells you whether the final recovered signal still looks close enough to the real one.</a:t>
            </a:r>
            <a:endParaRPr lang="en-US"/>
          </a:p>
          <a:p>
            <a:endParaRPr lang="en-US" sz="1200" dirty="0">
              <a:solidFill>
                <a:srgbClr val="065A82"/>
              </a:solidFill>
              <a:ea typeface="Calibri"/>
              <a:cs typeface="Calibri"/>
            </a:endParaRPr>
          </a:p>
        </p:txBody>
      </p:sp>
      <p:sp>
        <p:nvSpPr>
          <p:cNvPr id="24" name="Text 2">
            <a:extLst>
              <a:ext uri="{FF2B5EF4-FFF2-40B4-BE49-F238E27FC236}">
                <a16:creationId xmlns:a16="http://schemas.microsoft.com/office/drawing/2014/main" id="{D93FDC7F-5D83-3B86-4328-358D46A3F214}"/>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9" name="Picture 8" descr="A screen shot of a computer program&#10;&#10;AI-generated content may be incorrect.">
            <a:extLst>
              <a:ext uri="{FF2B5EF4-FFF2-40B4-BE49-F238E27FC236}">
                <a16:creationId xmlns:a16="http://schemas.microsoft.com/office/drawing/2014/main" id="{3B58AB91-322D-9906-AC67-C1E991437B78}"/>
              </a:ext>
            </a:extLst>
          </p:cNvPr>
          <p:cNvPicPr>
            <a:picLocks noChangeAspect="1"/>
          </p:cNvPicPr>
          <p:nvPr/>
        </p:nvPicPr>
        <p:blipFill>
          <a:blip r:embed="rId3"/>
          <a:stretch>
            <a:fillRect/>
          </a:stretch>
        </p:blipFill>
        <p:spPr>
          <a:xfrm>
            <a:off x="469465" y="1041943"/>
            <a:ext cx="8267700" cy="1838325"/>
          </a:xfrm>
          <a:prstGeom prst="rect">
            <a:avLst/>
          </a:prstGeom>
        </p:spPr>
      </p:pic>
    </p:spTree>
    <p:extLst>
      <p:ext uri="{BB962C8B-B14F-4D97-AF65-F5344CB8AC3E}">
        <p14:creationId xmlns:p14="http://schemas.microsoft.com/office/powerpoint/2010/main" val="2181089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a:extLst>
            <a:ext uri="{FF2B5EF4-FFF2-40B4-BE49-F238E27FC236}">
              <a16:creationId xmlns:a16="http://schemas.microsoft.com/office/drawing/2014/main" id="{8EC97EAF-125F-E254-FF1A-158BAFA464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670EBA-B5EA-5469-6F1B-B517351F52BA}"/>
              </a:ext>
            </a:extLst>
          </p:cNvPr>
          <p:cNvSpPr/>
          <p:nvPr/>
        </p:nvSpPr>
        <p:spPr>
          <a:xfrm>
            <a:off x="384048" y="182880"/>
            <a:ext cx="8229600" cy="475488"/>
          </a:xfrm>
          <a:prstGeom prst="rect">
            <a:avLst/>
          </a:prstGeom>
          <a:noFill/>
          <a:ln/>
        </p:spPr>
        <p:txBody>
          <a:bodyPr wrap="square" lIns="0" tIns="0" rIns="0" bIns="0" rtlCol="0" anchor="ctr"/>
          <a:lstStyle/>
          <a:p>
            <a:r>
              <a:rPr lang="en-US" sz="3000" b="1">
                <a:solidFill>
                  <a:srgbClr val="0A2540"/>
                </a:solidFill>
                <a:latin typeface="Calibri"/>
                <a:ea typeface="Calibri"/>
                <a:cs typeface="Calibri"/>
              </a:rPr>
              <a:t>Code Dive</a:t>
            </a:r>
            <a:endParaRPr lang="en-US"/>
          </a:p>
        </p:txBody>
      </p:sp>
      <p:sp>
        <p:nvSpPr>
          <p:cNvPr id="3" name="Shape 1">
            <a:extLst>
              <a:ext uri="{FF2B5EF4-FFF2-40B4-BE49-F238E27FC236}">
                <a16:creationId xmlns:a16="http://schemas.microsoft.com/office/drawing/2014/main" id="{40AB7D1D-986E-871A-03AB-119219E74B7E}"/>
              </a:ext>
            </a:extLst>
          </p:cNvPr>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a:extLst>
              <a:ext uri="{FF2B5EF4-FFF2-40B4-BE49-F238E27FC236}">
                <a16:creationId xmlns:a16="http://schemas.microsoft.com/office/drawing/2014/main" id="{AE144F4A-D8F1-9F64-AFA2-C17158CE1515}"/>
              </a:ext>
            </a:extLst>
          </p:cNvPr>
          <p:cNvSpPr/>
          <p:nvPr/>
        </p:nvSpPr>
        <p:spPr>
          <a:xfrm>
            <a:off x="8503920" y="486323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
        <p:nvSpPr>
          <p:cNvPr id="6" name="Shape 3">
            <a:extLst>
              <a:ext uri="{FF2B5EF4-FFF2-40B4-BE49-F238E27FC236}">
                <a16:creationId xmlns:a16="http://schemas.microsoft.com/office/drawing/2014/main" id="{018A04EE-0816-18C0-E631-55F1B4CD3BFD}"/>
              </a:ext>
            </a:extLst>
          </p:cNvPr>
          <p:cNvSpPr/>
          <p:nvPr/>
        </p:nvSpPr>
        <p:spPr>
          <a:xfrm>
            <a:off x="1256721" y="2951006"/>
            <a:ext cx="6860645" cy="1068283"/>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a:extLst>
              <a:ext uri="{FF2B5EF4-FFF2-40B4-BE49-F238E27FC236}">
                <a16:creationId xmlns:a16="http://schemas.microsoft.com/office/drawing/2014/main" id="{80FA71C7-7033-5274-6C55-AE5697B5E32A}"/>
              </a:ext>
            </a:extLst>
          </p:cNvPr>
          <p:cNvSpPr/>
          <p:nvPr/>
        </p:nvSpPr>
        <p:spPr>
          <a:xfrm>
            <a:off x="1154948" y="2943177"/>
            <a:ext cx="81608" cy="1068283"/>
          </a:xfrm>
          <a:prstGeom prst="rect">
            <a:avLst/>
          </a:prstGeom>
          <a:solidFill>
            <a:srgbClr val="065A82"/>
          </a:solidFill>
          <a:ln w="12700">
            <a:solidFill>
              <a:srgbClr val="065A82"/>
            </a:solidFill>
            <a:prstDash val="solid"/>
          </a:ln>
        </p:spPr>
        <p:txBody>
          <a:bodyPr/>
          <a:lstStyle/>
          <a:p>
            <a:endParaRPr lang="en-BW"/>
          </a:p>
        </p:txBody>
      </p:sp>
      <p:sp>
        <p:nvSpPr>
          <p:cNvPr id="8" name="Text 5">
            <a:extLst>
              <a:ext uri="{FF2B5EF4-FFF2-40B4-BE49-F238E27FC236}">
                <a16:creationId xmlns:a16="http://schemas.microsoft.com/office/drawing/2014/main" id="{2FAFD91A-0234-BB3B-5F27-F168C05F4A80}"/>
              </a:ext>
            </a:extLst>
          </p:cNvPr>
          <p:cNvSpPr/>
          <p:nvPr/>
        </p:nvSpPr>
        <p:spPr>
          <a:xfrm>
            <a:off x="1392896" y="2884584"/>
            <a:ext cx="6592445" cy="1192164"/>
          </a:xfrm>
          <a:prstGeom prst="rect">
            <a:avLst/>
          </a:prstGeom>
          <a:noFill/>
          <a:ln/>
        </p:spPr>
        <p:txBody>
          <a:bodyPr wrap="square" lIns="0" tIns="0" rIns="0" bIns="0" rtlCol="0" anchor="ctr"/>
          <a:lstStyle/>
          <a:p>
            <a:r>
              <a:rPr lang="en-US" sz="1400">
                <a:solidFill>
                  <a:srgbClr val="065A82"/>
                </a:solidFill>
                <a:ea typeface="+mn-lt"/>
                <a:cs typeface="+mn-lt"/>
              </a:rPr>
              <a:t>What this does:</a:t>
            </a:r>
            <a:endParaRPr lang="en-US" sz="1400">
              <a:ea typeface="Calibri"/>
              <a:cs typeface="Calibri"/>
            </a:endParaRPr>
          </a:p>
          <a:p>
            <a:pPr marL="285750" indent="-285750">
              <a:buFont typeface="Arial"/>
              <a:buChar char="•"/>
            </a:pPr>
            <a:r>
              <a:rPr lang="en-US" sz="1400" dirty="0" err="1">
                <a:solidFill>
                  <a:srgbClr val="065A82"/>
                </a:solidFill>
                <a:ea typeface="+mn-lt"/>
                <a:cs typeface="+mn-lt"/>
              </a:rPr>
              <a:t>linear_quantize</a:t>
            </a:r>
            <a:r>
              <a:rPr lang="en-US" sz="1400" dirty="0">
                <a:solidFill>
                  <a:srgbClr val="065A82"/>
                </a:solidFill>
                <a:ea typeface="+mn-lt"/>
                <a:cs typeface="+mn-lt"/>
              </a:rPr>
              <a:t>(...) rounds the signal into fixed levels </a:t>
            </a:r>
            <a:endParaRPr lang="en-US" sz="1400" dirty="0">
              <a:ea typeface="Calibri"/>
              <a:cs typeface="Calibri"/>
            </a:endParaRPr>
          </a:p>
          <a:p>
            <a:pPr marL="285750" indent="-285750">
              <a:buFont typeface="Arial"/>
              <a:buChar char="•"/>
            </a:pPr>
            <a:r>
              <a:rPr lang="en-US" sz="1400" dirty="0" err="1">
                <a:solidFill>
                  <a:srgbClr val="065A82"/>
                </a:solidFill>
                <a:ea typeface="+mn-lt"/>
                <a:cs typeface="+mn-lt"/>
              </a:rPr>
              <a:t>pcm_encode</a:t>
            </a:r>
            <a:r>
              <a:rPr lang="en-US" sz="1400" dirty="0">
                <a:solidFill>
                  <a:srgbClr val="065A82"/>
                </a:solidFill>
                <a:ea typeface="+mn-lt"/>
                <a:cs typeface="+mn-lt"/>
              </a:rPr>
              <a:t>(...) converts those levels into binary bits </a:t>
            </a:r>
            <a:endParaRPr lang="en-US" sz="1400" dirty="0"/>
          </a:p>
          <a:p>
            <a:endParaRPr lang="en-US" sz="1200" dirty="0">
              <a:solidFill>
                <a:srgbClr val="065A82"/>
              </a:solidFill>
              <a:ea typeface="Calibri"/>
              <a:cs typeface="Calibri"/>
            </a:endParaRPr>
          </a:p>
        </p:txBody>
      </p:sp>
      <p:sp>
        <p:nvSpPr>
          <p:cNvPr id="24" name="Text 2">
            <a:extLst>
              <a:ext uri="{FF2B5EF4-FFF2-40B4-BE49-F238E27FC236}">
                <a16:creationId xmlns:a16="http://schemas.microsoft.com/office/drawing/2014/main" id="{A273D463-2280-CE68-1468-BFD773A9EB0C}"/>
              </a:ext>
            </a:extLst>
          </p:cNvPr>
          <p:cNvSpPr/>
          <p:nvPr/>
        </p:nvSpPr>
        <p:spPr>
          <a:xfrm>
            <a:off x="8656320" y="4953000"/>
            <a:ext cx="457200" cy="274320"/>
          </a:xfrm>
          <a:prstGeom prst="rect">
            <a:avLst/>
          </a:prstGeom>
          <a:noFill/>
          <a:ln/>
        </p:spPr>
        <p:txBody>
          <a:bodyPr wrap="square" lIns="0" tIns="0" rIns="0" bIns="0" rtlCol="0" anchor="ctr"/>
          <a:lstStyle/>
          <a:p>
            <a:pPr marL="0" indent="0" algn="r">
              <a:buNone/>
            </a:pPr>
            <a:endParaRPr lang="en-US" sz="1000" dirty="0"/>
          </a:p>
        </p:txBody>
      </p:sp>
      <p:pic>
        <p:nvPicPr>
          <p:cNvPr id="5" name="Picture 4" descr="A black background with colorful text&#10;&#10;AI-generated content may be incorrect.">
            <a:extLst>
              <a:ext uri="{FF2B5EF4-FFF2-40B4-BE49-F238E27FC236}">
                <a16:creationId xmlns:a16="http://schemas.microsoft.com/office/drawing/2014/main" id="{36AE0674-2273-4F91-A16E-A1EE5AF11AE1}"/>
              </a:ext>
            </a:extLst>
          </p:cNvPr>
          <p:cNvPicPr>
            <a:picLocks noChangeAspect="1"/>
          </p:cNvPicPr>
          <p:nvPr/>
        </p:nvPicPr>
        <p:blipFill>
          <a:blip r:embed="rId3"/>
          <a:stretch>
            <a:fillRect/>
          </a:stretch>
        </p:blipFill>
        <p:spPr>
          <a:xfrm>
            <a:off x="938213" y="1456542"/>
            <a:ext cx="7267575" cy="742950"/>
          </a:xfrm>
          <a:prstGeom prst="rect">
            <a:avLst/>
          </a:prstGeom>
        </p:spPr>
      </p:pic>
    </p:spTree>
    <p:extLst>
      <p:ext uri="{BB962C8B-B14F-4D97-AF65-F5344CB8AC3E}">
        <p14:creationId xmlns:p14="http://schemas.microsoft.com/office/powerpoint/2010/main" val="368172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0F7FF"/>
        </a:solidFill>
        <a:effectLst/>
      </p:bgPr>
    </p:bg>
    <p:spTree>
      <p:nvGrpSpPr>
        <p:cNvPr id="1" name=""/>
        <p:cNvGrpSpPr/>
        <p:nvPr/>
      </p:nvGrpSpPr>
      <p:grpSpPr>
        <a:xfrm>
          <a:off x="0" y="0"/>
          <a:ext cx="0" cy="0"/>
          <a:chOff x="0" y="0"/>
          <a:chExt cx="0" cy="0"/>
        </a:xfrm>
      </p:grpSpPr>
      <p:sp>
        <p:nvSpPr>
          <p:cNvPr id="2" name="Text 0"/>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Results, Analysis &amp; Discussion</a:t>
            </a:r>
            <a:endParaRPr lang="en-US" sz="3000" dirty="0"/>
          </a:p>
        </p:txBody>
      </p:sp>
      <p:sp>
        <p:nvSpPr>
          <p:cNvPr id="3" name="Shape 1"/>
          <p:cNvSpPr/>
          <p:nvPr/>
        </p:nvSpPr>
        <p:spPr>
          <a:xfrm>
            <a:off x="384048" y="667512"/>
            <a:ext cx="8375904"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graphicFrame>
        <p:nvGraphicFramePr>
          <p:cNvPr id="5" name="Chart 0"/>
          <p:cNvGraphicFramePr/>
          <p:nvPr>
            <p:extLst>
              <p:ext uri="{D42A27DB-BD31-4B8C-83A1-F6EECF244321}">
                <p14:modId xmlns:p14="http://schemas.microsoft.com/office/powerpoint/2010/main" val="2605649947"/>
              </p:ext>
            </p:extLst>
          </p:nvPr>
        </p:nvGraphicFramePr>
        <p:xfrm>
          <a:off x="384048" y="804672"/>
          <a:ext cx="5029200" cy="385876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804672"/>
            <a:ext cx="3172968" cy="86868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7" name="Shape 4"/>
          <p:cNvSpPr/>
          <p:nvPr/>
        </p:nvSpPr>
        <p:spPr>
          <a:xfrm>
            <a:off x="5577840" y="804672"/>
            <a:ext cx="50292" cy="868680"/>
          </a:xfrm>
          <a:prstGeom prst="rect">
            <a:avLst/>
          </a:prstGeom>
          <a:solidFill>
            <a:srgbClr val="065A82"/>
          </a:solidFill>
          <a:ln w="12700">
            <a:solidFill>
              <a:srgbClr val="065A82"/>
            </a:solidFill>
            <a:prstDash val="solid"/>
          </a:ln>
        </p:spPr>
        <p:txBody>
          <a:bodyPr/>
          <a:lstStyle/>
          <a:p>
            <a:endParaRPr lang="en-BW"/>
          </a:p>
        </p:txBody>
      </p:sp>
      <p:sp>
        <p:nvSpPr>
          <p:cNvPr id="8" name="Text 5"/>
          <p:cNvSpPr/>
          <p:nvPr/>
        </p:nvSpPr>
        <p:spPr>
          <a:xfrm>
            <a:off x="5687568" y="850392"/>
            <a:ext cx="2926080" cy="411480"/>
          </a:xfrm>
          <a:prstGeom prst="rect">
            <a:avLst/>
          </a:prstGeom>
          <a:noFill/>
          <a:ln/>
        </p:spPr>
        <p:txBody>
          <a:bodyPr wrap="square" lIns="0" tIns="0" rIns="0" bIns="0" rtlCol="0" anchor="ctr"/>
          <a:lstStyle/>
          <a:p>
            <a:pPr marL="0" indent="0">
              <a:buNone/>
            </a:pPr>
            <a:r>
              <a:rPr lang="en-US" sz="2200" b="1" dirty="0">
                <a:solidFill>
                  <a:srgbClr val="065A82"/>
                </a:solidFill>
                <a:latin typeface="Calibri" pitchFamily="34" charset="0"/>
                <a:ea typeface="Calibri" pitchFamily="34" charset="-122"/>
                <a:cs typeface="Calibri" pitchFamily="34" charset="-120"/>
              </a:rPr>
              <a:t>49.9 dB</a:t>
            </a:r>
            <a:endParaRPr lang="en-US" sz="2200" dirty="0"/>
          </a:p>
        </p:txBody>
      </p:sp>
      <p:sp>
        <p:nvSpPr>
          <p:cNvPr id="9" name="Text 6"/>
          <p:cNvSpPr/>
          <p:nvPr/>
        </p:nvSpPr>
        <p:spPr>
          <a:xfrm>
            <a:off x="5687568" y="1280160"/>
            <a:ext cx="2926080" cy="219456"/>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SQNR (8-bit PCM)</a:t>
            </a:r>
            <a:endParaRPr lang="en-US" sz="1000" dirty="0"/>
          </a:p>
        </p:txBody>
      </p:sp>
      <p:sp>
        <p:nvSpPr>
          <p:cNvPr id="10" name="Text 7"/>
          <p:cNvSpPr/>
          <p:nvPr/>
        </p:nvSpPr>
        <p:spPr>
          <a:xfrm>
            <a:off x="5687568" y="1463040"/>
            <a:ext cx="2926080" cy="1828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quant. error negligible</a:t>
            </a:r>
            <a:endParaRPr lang="en-US" sz="900" dirty="0"/>
          </a:p>
        </p:txBody>
      </p:sp>
      <p:sp>
        <p:nvSpPr>
          <p:cNvPr id="11" name="Shape 8"/>
          <p:cNvSpPr/>
          <p:nvPr/>
        </p:nvSpPr>
        <p:spPr>
          <a:xfrm>
            <a:off x="5577840" y="1792224"/>
            <a:ext cx="3172968" cy="86868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2" name="Shape 9"/>
          <p:cNvSpPr/>
          <p:nvPr/>
        </p:nvSpPr>
        <p:spPr>
          <a:xfrm>
            <a:off x="5577840" y="1792224"/>
            <a:ext cx="50292" cy="868680"/>
          </a:xfrm>
          <a:prstGeom prst="rect">
            <a:avLst/>
          </a:prstGeom>
          <a:solidFill>
            <a:srgbClr val="1C7293"/>
          </a:solidFill>
          <a:ln w="12700">
            <a:solidFill>
              <a:srgbClr val="1C7293"/>
            </a:solidFill>
            <a:prstDash val="solid"/>
          </a:ln>
        </p:spPr>
        <p:txBody>
          <a:bodyPr/>
          <a:lstStyle/>
          <a:p>
            <a:endParaRPr lang="en-BW"/>
          </a:p>
        </p:txBody>
      </p:sp>
      <p:sp>
        <p:nvSpPr>
          <p:cNvPr id="13" name="Text 10"/>
          <p:cNvSpPr/>
          <p:nvPr/>
        </p:nvSpPr>
        <p:spPr>
          <a:xfrm>
            <a:off x="5687568" y="1837944"/>
            <a:ext cx="2926080" cy="41148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×24</a:t>
            </a:r>
            <a:endParaRPr lang="en-US" sz="2200" dirty="0"/>
          </a:p>
        </p:txBody>
      </p:sp>
      <p:sp>
        <p:nvSpPr>
          <p:cNvPr id="14" name="Text 11"/>
          <p:cNvSpPr/>
          <p:nvPr/>
        </p:nvSpPr>
        <p:spPr>
          <a:xfrm>
            <a:off x="5687568" y="2267712"/>
            <a:ext cx="2926080" cy="219456"/>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Nyquist margin</a:t>
            </a:r>
            <a:endParaRPr lang="en-US" sz="1000" dirty="0"/>
          </a:p>
        </p:txBody>
      </p:sp>
      <p:sp>
        <p:nvSpPr>
          <p:cNvPr id="15" name="Text 12"/>
          <p:cNvSpPr/>
          <p:nvPr/>
        </p:nvSpPr>
        <p:spPr>
          <a:xfrm>
            <a:off x="5687568" y="2450592"/>
            <a:ext cx="2926080" cy="1828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over dominant f_m</a:t>
            </a:r>
            <a:endParaRPr lang="en-US" sz="900" dirty="0"/>
          </a:p>
        </p:txBody>
      </p:sp>
      <p:sp>
        <p:nvSpPr>
          <p:cNvPr id="16" name="Shape 13"/>
          <p:cNvSpPr/>
          <p:nvPr/>
        </p:nvSpPr>
        <p:spPr>
          <a:xfrm>
            <a:off x="5577840" y="2779776"/>
            <a:ext cx="3172968" cy="86868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17" name="Shape 14"/>
          <p:cNvSpPr/>
          <p:nvPr/>
        </p:nvSpPr>
        <p:spPr>
          <a:xfrm>
            <a:off x="5577840" y="2779776"/>
            <a:ext cx="50292" cy="868680"/>
          </a:xfrm>
          <a:prstGeom prst="rect">
            <a:avLst/>
          </a:prstGeom>
          <a:solidFill>
            <a:srgbClr val="1E3A5F"/>
          </a:solidFill>
          <a:ln w="12700">
            <a:solidFill>
              <a:srgbClr val="1E3A5F"/>
            </a:solidFill>
            <a:prstDash val="solid"/>
          </a:ln>
        </p:spPr>
        <p:txBody>
          <a:bodyPr/>
          <a:lstStyle/>
          <a:p>
            <a:endParaRPr lang="en-BW"/>
          </a:p>
        </p:txBody>
      </p:sp>
      <p:sp>
        <p:nvSpPr>
          <p:cNvPr id="18" name="Text 15"/>
          <p:cNvSpPr/>
          <p:nvPr/>
        </p:nvSpPr>
        <p:spPr>
          <a:xfrm>
            <a:off x="5687568" y="2825496"/>
            <a:ext cx="2926080" cy="411480"/>
          </a:xfrm>
          <a:prstGeom prst="rect">
            <a:avLst/>
          </a:prstGeom>
          <a:noFill/>
          <a:ln/>
        </p:spPr>
        <p:txBody>
          <a:bodyPr wrap="square" lIns="0" tIns="0" rIns="0" bIns="0" rtlCol="0" anchor="ctr"/>
          <a:lstStyle/>
          <a:p>
            <a:pPr marL="0" indent="0">
              <a:buNone/>
            </a:pPr>
            <a:r>
              <a:rPr lang="en-US" sz="2200" b="1" dirty="0">
                <a:solidFill>
                  <a:srgbClr val="1E3A5F"/>
                </a:solidFill>
                <a:latin typeface="Calibri" pitchFamily="34" charset="0"/>
                <a:ea typeface="Calibri" pitchFamily="34" charset="-122"/>
                <a:cs typeface="Calibri" pitchFamily="34" charset="-120"/>
              </a:rPr>
              <a:t>SNR*=12</a:t>
            </a:r>
            <a:endParaRPr lang="en-US" sz="2200" dirty="0"/>
          </a:p>
        </p:txBody>
      </p:sp>
      <p:sp>
        <p:nvSpPr>
          <p:cNvPr id="19" name="Text 16"/>
          <p:cNvSpPr/>
          <p:nvPr/>
        </p:nvSpPr>
        <p:spPr>
          <a:xfrm>
            <a:off x="5687568" y="3255264"/>
            <a:ext cx="2926080" cy="219456"/>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Optimal operating point</a:t>
            </a:r>
            <a:endParaRPr lang="en-US" sz="1000" dirty="0"/>
          </a:p>
        </p:txBody>
      </p:sp>
      <p:sp>
        <p:nvSpPr>
          <p:cNvPr id="20" name="Text 17"/>
          <p:cNvSpPr/>
          <p:nvPr/>
        </p:nvSpPr>
        <p:spPr>
          <a:xfrm>
            <a:off x="5687568" y="3438144"/>
            <a:ext cx="2926080" cy="1828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min BER → max fidelity</a:t>
            </a:r>
            <a:endParaRPr lang="en-US" sz="900" dirty="0"/>
          </a:p>
        </p:txBody>
      </p:sp>
      <p:sp>
        <p:nvSpPr>
          <p:cNvPr id="21" name="Shape 18"/>
          <p:cNvSpPr/>
          <p:nvPr/>
        </p:nvSpPr>
        <p:spPr>
          <a:xfrm>
            <a:off x="5577840" y="3767328"/>
            <a:ext cx="3172968" cy="868680"/>
          </a:xfrm>
          <a:prstGeom prst="rect">
            <a:avLst/>
          </a:prstGeom>
          <a:solidFill>
            <a:srgbClr val="FFFFFF"/>
          </a:solidFill>
          <a:ln w="12700">
            <a:solidFill>
              <a:srgbClr val="E2EDF5"/>
            </a:solidFill>
            <a:prstDash val="solid"/>
          </a:ln>
          <a:effectLst>
            <a:outerShdw blurRad="63500" dist="25400" dir="8100000" algn="bl" rotWithShape="0">
              <a:srgbClr val="000000">
                <a:alpha val="10000"/>
              </a:srgbClr>
            </a:outerShdw>
          </a:effectLst>
        </p:spPr>
        <p:txBody>
          <a:bodyPr/>
          <a:lstStyle/>
          <a:p>
            <a:endParaRPr lang="en-BW"/>
          </a:p>
        </p:txBody>
      </p:sp>
      <p:sp>
        <p:nvSpPr>
          <p:cNvPr id="22" name="Shape 19"/>
          <p:cNvSpPr/>
          <p:nvPr/>
        </p:nvSpPr>
        <p:spPr>
          <a:xfrm>
            <a:off x="5577840" y="3767328"/>
            <a:ext cx="50292" cy="868680"/>
          </a:xfrm>
          <a:prstGeom prst="rect">
            <a:avLst/>
          </a:prstGeom>
          <a:solidFill>
            <a:srgbClr val="02C39A"/>
          </a:solidFill>
          <a:ln w="12700">
            <a:solidFill>
              <a:srgbClr val="02C39A"/>
            </a:solidFill>
            <a:prstDash val="solid"/>
          </a:ln>
        </p:spPr>
        <p:txBody>
          <a:bodyPr/>
          <a:lstStyle/>
          <a:p>
            <a:endParaRPr lang="en-BW"/>
          </a:p>
        </p:txBody>
      </p:sp>
      <p:sp>
        <p:nvSpPr>
          <p:cNvPr id="23" name="Text 20"/>
          <p:cNvSpPr/>
          <p:nvPr/>
        </p:nvSpPr>
        <p:spPr>
          <a:xfrm>
            <a:off x="5687568" y="3813048"/>
            <a:ext cx="2926080" cy="411480"/>
          </a:xfrm>
          <a:prstGeom prst="rect">
            <a:avLst/>
          </a:prstGeom>
          <a:noFill/>
          <a:ln/>
        </p:spPr>
        <p:txBody>
          <a:bodyPr wrap="square" lIns="0" tIns="0" rIns="0" bIns="0" rtlCol="0" anchor="ctr"/>
          <a:lstStyle/>
          <a:p>
            <a:pPr marL="0" indent="0">
              <a:buNone/>
            </a:pPr>
            <a:r>
              <a:rPr lang="en-US" sz="2200" b="1" dirty="0">
                <a:solidFill>
                  <a:srgbClr val="02C39A"/>
                </a:solidFill>
                <a:latin typeface="Calibri" pitchFamily="34" charset="0"/>
                <a:ea typeface="Calibri" pitchFamily="34" charset="-122"/>
                <a:cs typeface="Calibri" pitchFamily="34" charset="-120"/>
              </a:rPr>
              <a:t>100%</a:t>
            </a:r>
            <a:endParaRPr lang="en-US" sz="2200" dirty="0"/>
          </a:p>
        </p:txBody>
      </p:sp>
      <p:sp>
        <p:nvSpPr>
          <p:cNvPr id="24" name="Text 21"/>
          <p:cNvSpPr/>
          <p:nvPr/>
        </p:nvSpPr>
        <p:spPr>
          <a:xfrm>
            <a:off x="5687568" y="4242816"/>
            <a:ext cx="2926080" cy="219456"/>
          </a:xfrm>
          <a:prstGeom prst="rect">
            <a:avLst/>
          </a:prstGeom>
          <a:noFill/>
          <a:ln/>
        </p:spPr>
        <p:txBody>
          <a:bodyPr wrap="square" lIns="0" tIns="0" rIns="0" bIns="0"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DO anomaly detection</a:t>
            </a:r>
            <a:endParaRPr lang="en-US" sz="1000" dirty="0"/>
          </a:p>
        </p:txBody>
      </p:sp>
      <p:sp>
        <p:nvSpPr>
          <p:cNvPr id="25" name="Text 22"/>
          <p:cNvSpPr/>
          <p:nvPr/>
        </p:nvSpPr>
        <p:spPr>
          <a:xfrm>
            <a:off x="5687568" y="4425696"/>
            <a:ext cx="2926080" cy="1828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all events correctly flagged</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txBody>
          <a:bodyPr/>
          <a:lstStyle/>
          <a:p>
            <a:endParaRPr lang="en-BW"/>
          </a:p>
        </p:txBody>
      </p:sp>
      <p:sp>
        <p:nvSpPr>
          <p:cNvPr id="3" name="Text 1"/>
          <p:cNvSpPr/>
          <p:nvPr/>
        </p:nvSpPr>
        <p:spPr>
          <a:xfrm>
            <a:off x="384048" y="182880"/>
            <a:ext cx="8229600" cy="47548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4" name="Text 2"/>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02C39A"/>
                </a:solidFill>
                <a:latin typeface="Calibri" pitchFamily="34" charset="0"/>
                <a:ea typeface="Calibri" pitchFamily="34" charset="-122"/>
                <a:cs typeface="Calibri" pitchFamily="34" charset="-120"/>
              </a:rPr>
              <a:t>22</a:t>
            </a:r>
            <a:endParaRPr lang="en-US" sz="1000" dirty="0"/>
          </a:p>
        </p:txBody>
      </p:sp>
      <p:sp>
        <p:nvSpPr>
          <p:cNvPr id="5" name="Shape 3"/>
          <p:cNvSpPr/>
          <p:nvPr/>
        </p:nvSpPr>
        <p:spPr>
          <a:xfrm>
            <a:off x="384048" y="868680"/>
            <a:ext cx="8375904" cy="594360"/>
          </a:xfrm>
          <a:prstGeom prst="rect">
            <a:avLst/>
          </a:prstGeom>
          <a:solidFill>
            <a:srgbClr val="1C7293">
              <a:alpha val="18000"/>
            </a:srgbClr>
          </a:solidFill>
          <a:ln w="12700">
            <a:solidFill>
              <a:srgbClr val="1C7293"/>
            </a:solidFill>
            <a:prstDash val="solid"/>
          </a:ln>
        </p:spPr>
        <p:txBody>
          <a:bodyPr/>
          <a:lstStyle/>
          <a:p>
            <a:endParaRPr lang="en-BW"/>
          </a:p>
        </p:txBody>
      </p:sp>
      <p:sp>
        <p:nvSpPr>
          <p:cNvPr id="6" name="Text 4"/>
          <p:cNvSpPr/>
          <p:nvPr/>
        </p:nvSpPr>
        <p:spPr>
          <a:xfrm>
            <a:off x="475488" y="896112"/>
            <a:ext cx="347472"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859536" y="914400"/>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Complete 8-stage Python telemetry pipeline — from data acquisition to monitoring output</a:t>
            </a:r>
            <a:endParaRPr lang="en-US" sz="1200" dirty="0"/>
          </a:p>
        </p:txBody>
      </p:sp>
      <p:sp>
        <p:nvSpPr>
          <p:cNvPr id="8" name="Shape 6"/>
          <p:cNvSpPr/>
          <p:nvPr/>
        </p:nvSpPr>
        <p:spPr>
          <a:xfrm>
            <a:off x="384048" y="1536192"/>
            <a:ext cx="8375904" cy="594360"/>
          </a:xfrm>
          <a:prstGeom prst="rect">
            <a:avLst/>
          </a:prstGeom>
          <a:solidFill>
            <a:srgbClr val="1C7293">
              <a:alpha val="18000"/>
            </a:srgbClr>
          </a:solidFill>
          <a:ln w="12700">
            <a:solidFill>
              <a:srgbClr val="1C7293"/>
            </a:solidFill>
            <a:prstDash val="solid"/>
          </a:ln>
        </p:spPr>
        <p:txBody>
          <a:bodyPr/>
          <a:lstStyle/>
          <a:p>
            <a:endParaRPr lang="en-BW"/>
          </a:p>
        </p:txBody>
      </p:sp>
      <p:sp>
        <p:nvSpPr>
          <p:cNvPr id="9" name="Text 7"/>
          <p:cNvSpPr/>
          <p:nvPr/>
        </p:nvSpPr>
        <p:spPr>
          <a:xfrm>
            <a:off x="475488" y="1563624"/>
            <a:ext cx="347472"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859536" y="1581912"/>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BPSK + AWGN: near-error-free above 10 dB SNR — empirical BER matches Q-function theory</a:t>
            </a:r>
            <a:endParaRPr lang="en-US" sz="1200" dirty="0"/>
          </a:p>
        </p:txBody>
      </p:sp>
      <p:sp>
        <p:nvSpPr>
          <p:cNvPr id="11" name="Shape 9"/>
          <p:cNvSpPr/>
          <p:nvPr/>
        </p:nvSpPr>
        <p:spPr>
          <a:xfrm>
            <a:off x="384048" y="2203704"/>
            <a:ext cx="8375904" cy="594360"/>
          </a:xfrm>
          <a:prstGeom prst="rect">
            <a:avLst/>
          </a:prstGeom>
          <a:solidFill>
            <a:srgbClr val="1C7293">
              <a:alpha val="18000"/>
            </a:srgbClr>
          </a:solidFill>
          <a:ln w="12700">
            <a:solidFill>
              <a:srgbClr val="1C7293"/>
            </a:solidFill>
            <a:prstDash val="solid"/>
          </a:ln>
        </p:spPr>
        <p:txBody>
          <a:bodyPr/>
          <a:lstStyle/>
          <a:p>
            <a:endParaRPr lang="en-BW"/>
          </a:p>
        </p:txBody>
      </p:sp>
      <p:sp>
        <p:nvSpPr>
          <p:cNvPr id="12" name="Text 10"/>
          <p:cNvSpPr/>
          <p:nvPr/>
        </p:nvSpPr>
        <p:spPr>
          <a:xfrm>
            <a:off x="475488" y="2231136"/>
            <a:ext cx="347472"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859536" y="2249424"/>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8-bit PCM: 49.9 dB SQNR — quantisation error negligible relative to channel noise</a:t>
            </a:r>
            <a:endParaRPr lang="en-US" sz="1200" dirty="0"/>
          </a:p>
        </p:txBody>
      </p:sp>
      <p:sp>
        <p:nvSpPr>
          <p:cNvPr id="14" name="Shape 12"/>
          <p:cNvSpPr/>
          <p:nvPr/>
        </p:nvSpPr>
        <p:spPr>
          <a:xfrm>
            <a:off x="384048" y="2871216"/>
            <a:ext cx="8375904" cy="594360"/>
          </a:xfrm>
          <a:prstGeom prst="rect">
            <a:avLst/>
          </a:prstGeom>
          <a:solidFill>
            <a:srgbClr val="1C7293">
              <a:alpha val="18000"/>
            </a:srgbClr>
          </a:solidFill>
          <a:ln w="12700">
            <a:solidFill>
              <a:srgbClr val="1C7293"/>
            </a:solidFill>
            <a:prstDash val="solid"/>
          </a:ln>
        </p:spPr>
        <p:txBody>
          <a:bodyPr/>
          <a:lstStyle/>
          <a:p>
            <a:endParaRPr lang="en-BW"/>
          </a:p>
        </p:txBody>
      </p:sp>
      <p:sp>
        <p:nvSpPr>
          <p:cNvPr id="15" name="Text 13"/>
          <p:cNvSpPr/>
          <p:nvPr/>
        </p:nvSpPr>
        <p:spPr>
          <a:xfrm>
            <a:off x="475488" y="2898648"/>
            <a:ext cx="347472"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859536" y="2916936"/>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30-min sampling: ×24 Nyquist margin over the dominant diurnal frequency — no aliasing</a:t>
            </a:r>
            <a:endParaRPr lang="en-US" sz="1200" dirty="0"/>
          </a:p>
        </p:txBody>
      </p:sp>
      <p:sp>
        <p:nvSpPr>
          <p:cNvPr id="17" name="Shape 15"/>
          <p:cNvSpPr/>
          <p:nvPr/>
        </p:nvSpPr>
        <p:spPr>
          <a:xfrm>
            <a:off x="384048" y="3538728"/>
            <a:ext cx="8375904" cy="594360"/>
          </a:xfrm>
          <a:prstGeom prst="rect">
            <a:avLst/>
          </a:prstGeom>
          <a:solidFill>
            <a:srgbClr val="1C7293">
              <a:alpha val="18000"/>
            </a:srgbClr>
          </a:solidFill>
          <a:ln w="12700">
            <a:solidFill>
              <a:srgbClr val="1C7293"/>
            </a:solidFill>
            <a:prstDash val="solid"/>
          </a:ln>
        </p:spPr>
        <p:txBody>
          <a:bodyPr/>
          <a:lstStyle/>
          <a:p>
            <a:endParaRPr lang="en-BW"/>
          </a:p>
        </p:txBody>
      </p:sp>
      <p:sp>
        <p:nvSpPr>
          <p:cNvPr id="18" name="Text 16"/>
          <p:cNvSpPr/>
          <p:nvPr/>
        </p:nvSpPr>
        <p:spPr>
          <a:xfrm>
            <a:off x="475488" y="3566160"/>
            <a:ext cx="347472"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859536" y="3584448"/>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DO anomaly detection: 100% recall on all injected event samples in the recovered signal</a:t>
            </a:r>
            <a:endParaRPr lang="en-US" sz="1200" dirty="0"/>
          </a:p>
        </p:txBody>
      </p:sp>
      <p:sp>
        <p:nvSpPr>
          <p:cNvPr id="20" name="Shape 18"/>
          <p:cNvSpPr/>
          <p:nvPr/>
        </p:nvSpPr>
        <p:spPr>
          <a:xfrm>
            <a:off x="384048" y="4206240"/>
            <a:ext cx="8375904" cy="594360"/>
          </a:xfrm>
          <a:prstGeom prst="rect">
            <a:avLst/>
          </a:prstGeom>
          <a:solidFill>
            <a:srgbClr val="1E3A5F"/>
          </a:solidFill>
          <a:ln w="12700">
            <a:solidFill>
              <a:srgbClr val="02C39A"/>
            </a:solidFill>
            <a:prstDash val="solid"/>
          </a:ln>
        </p:spPr>
        <p:txBody>
          <a:bodyPr/>
          <a:lstStyle/>
          <a:p>
            <a:endParaRPr lang="en-BW"/>
          </a:p>
        </p:txBody>
      </p:sp>
      <p:sp>
        <p:nvSpPr>
          <p:cNvPr id="21" name="Text 19"/>
          <p:cNvSpPr/>
          <p:nvPr/>
        </p:nvSpPr>
        <p:spPr>
          <a:xfrm>
            <a:off x="475488" y="4233672"/>
            <a:ext cx="347472" cy="50292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859536" y="4251960"/>
            <a:ext cx="78181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Future work: QPSK / QAM modulation, fading channel models, multi-parameter simultaneous monitoring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Key References</a:t>
            </a:r>
            <a:endParaRPr lang="en-US" sz="2800" dirty="0"/>
          </a:p>
        </p:txBody>
      </p:sp>
      <p:sp>
        <p:nvSpPr>
          <p:cNvPr id="3" name="Shape 1"/>
          <p:cNvSpPr/>
          <p:nvPr/>
        </p:nvSpPr>
        <p:spPr>
          <a:xfrm>
            <a:off x="457200" y="804672"/>
            <a:ext cx="8229600" cy="27432"/>
          </a:xfrm>
          <a:prstGeom prst="rect">
            <a:avLst/>
          </a:prstGeom>
          <a:solidFill>
            <a:srgbClr val="E2EDF5"/>
          </a:solidFill>
          <a:ln w="12700">
            <a:solidFill>
              <a:srgbClr val="E2EDF5"/>
            </a:solidFill>
            <a:prstDash val="solid"/>
          </a:ln>
        </p:spPr>
        <p:txBody>
          <a:bodyPr/>
          <a:lstStyle/>
          <a:p>
            <a:endParaRPr lang="en-BW"/>
          </a:p>
        </p:txBody>
      </p:sp>
      <p:sp>
        <p:nvSpPr>
          <p:cNvPr id="4" name="Text 2"/>
          <p:cNvSpPr/>
          <p:nvPr/>
        </p:nvSpPr>
        <p:spPr>
          <a:xfrm>
            <a:off x="457200" y="1005840"/>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[3]  WHO, Drinking-water fact sheet, 2023.</a:t>
            </a:r>
            <a:endParaRPr lang="en-US" sz="1100" dirty="0"/>
          </a:p>
        </p:txBody>
      </p:sp>
      <p:sp>
        <p:nvSpPr>
          <p:cNvPr id="5" name="Shape 3"/>
          <p:cNvSpPr/>
          <p:nvPr/>
        </p:nvSpPr>
        <p:spPr>
          <a:xfrm>
            <a:off x="457200" y="1444752"/>
            <a:ext cx="8229600" cy="0"/>
          </a:xfrm>
          <a:prstGeom prst="line">
            <a:avLst/>
          </a:prstGeom>
          <a:noFill/>
          <a:ln w="6350">
            <a:solidFill>
              <a:srgbClr val="E2EDF5"/>
            </a:solidFill>
            <a:prstDash val="solid"/>
          </a:ln>
        </p:spPr>
        <p:txBody>
          <a:bodyPr/>
          <a:lstStyle/>
          <a:p>
            <a:endParaRPr lang="en-BW"/>
          </a:p>
        </p:txBody>
      </p:sp>
      <p:sp>
        <p:nvSpPr>
          <p:cNvPr id="6" name="Text 4"/>
          <p:cNvSpPr/>
          <p:nvPr/>
        </p:nvSpPr>
        <p:spPr>
          <a:xfrm>
            <a:off x="457200" y="1490472"/>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[13] Pasika &amp; Gandla, Smart water quality monitoring with IoT, Heliyon, 2020.</a:t>
            </a:r>
            <a:endParaRPr lang="en-US" sz="1100" dirty="0"/>
          </a:p>
        </p:txBody>
      </p:sp>
      <p:sp>
        <p:nvSpPr>
          <p:cNvPr id="7" name="Shape 5"/>
          <p:cNvSpPr/>
          <p:nvPr/>
        </p:nvSpPr>
        <p:spPr>
          <a:xfrm>
            <a:off x="457200" y="1929384"/>
            <a:ext cx="8229600" cy="0"/>
          </a:xfrm>
          <a:prstGeom prst="line">
            <a:avLst/>
          </a:prstGeom>
          <a:noFill/>
          <a:ln w="6350">
            <a:solidFill>
              <a:srgbClr val="E2EDF5"/>
            </a:solidFill>
            <a:prstDash val="solid"/>
          </a:ln>
        </p:spPr>
        <p:txBody>
          <a:bodyPr/>
          <a:lstStyle/>
          <a:p>
            <a:endParaRPr lang="en-BW"/>
          </a:p>
        </p:txBody>
      </p:sp>
      <p:sp>
        <p:nvSpPr>
          <p:cNvPr id="8" name="Text 6"/>
          <p:cNvSpPr/>
          <p:nvPr/>
        </p:nvSpPr>
        <p:spPr>
          <a:xfrm>
            <a:off x="457200" y="1975104"/>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[14] Jan et al., IoT based smart water quality monitoring, Water, 2021.</a:t>
            </a:r>
            <a:endParaRPr lang="en-US" sz="1100" dirty="0"/>
          </a:p>
        </p:txBody>
      </p:sp>
      <p:sp>
        <p:nvSpPr>
          <p:cNvPr id="9" name="Shape 7"/>
          <p:cNvSpPr/>
          <p:nvPr/>
        </p:nvSpPr>
        <p:spPr>
          <a:xfrm>
            <a:off x="457200" y="2414016"/>
            <a:ext cx="8229600" cy="0"/>
          </a:xfrm>
          <a:prstGeom prst="line">
            <a:avLst/>
          </a:prstGeom>
          <a:noFill/>
          <a:ln w="6350">
            <a:solidFill>
              <a:srgbClr val="E2EDF5"/>
            </a:solidFill>
            <a:prstDash val="solid"/>
          </a:ln>
        </p:spPr>
        <p:txBody>
          <a:bodyPr/>
          <a:lstStyle/>
          <a:p>
            <a:endParaRPr lang="en-BW"/>
          </a:p>
        </p:txBody>
      </p:sp>
      <p:sp>
        <p:nvSpPr>
          <p:cNvPr id="10" name="Text 8"/>
          <p:cNvSpPr/>
          <p:nvPr/>
        </p:nvSpPr>
        <p:spPr>
          <a:xfrm>
            <a:off x="457200" y="2459736"/>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[15] Proakis &amp; Salehi, Digital Communications, 5th ed., McGraw-Hill, 2008.</a:t>
            </a:r>
            <a:endParaRPr lang="en-US" sz="1100" dirty="0"/>
          </a:p>
        </p:txBody>
      </p:sp>
      <p:sp>
        <p:nvSpPr>
          <p:cNvPr id="11" name="Shape 9"/>
          <p:cNvSpPr/>
          <p:nvPr/>
        </p:nvSpPr>
        <p:spPr>
          <a:xfrm>
            <a:off x="457200" y="2898648"/>
            <a:ext cx="8229600" cy="0"/>
          </a:xfrm>
          <a:prstGeom prst="line">
            <a:avLst/>
          </a:prstGeom>
          <a:noFill/>
          <a:ln w="6350">
            <a:solidFill>
              <a:srgbClr val="E2EDF5"/>
            </a:solidFill>
            <a:prstDash val="solid"/>
          </a:ln>
        </p:spPr>
        <p:txBody>
          <a:bodyPr/>
          <a:lstStyle/>
          <a:p>
            <a:endParaRPr lang="en-BW"/>
          </a:p>
        </p:txBody>
      </p:sp>
      <p:sp>
        <p:nvSpPr>
          <p:cNvPr id="12" name="Text 10"/>
          <p:cNvSpPr/>
          <p:nvPr/>
        </p:nvSpPr>
        <p:spPr>
          <a:xfrm>
            <a:off x="457200" y="2944368"/>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[21] Bharati et al., ASK/FSK/PSK BER vs SNR comparison over AWGN, arXiv, 2020.</a:t>
            </a:r>
            <a:endParaRPr lang="en-US" sz="1100" dirty="0"/>
          </a:p>
        </p:txBody>
      </p:sp>
      <p:sp>
        <p:nvSpPr>
          <p:cNvPr id="13" name="Shape 11"/>
          <p:cNvSpPr/>
          <p:nvPr/>
        </p:nvSpPr>
        <p:spPr>
          <a:xfrm>
            <a:off x="457200" y="3383280"/>
            <a:ext cx="8229600" cy="0"/>
          </a:xfrm>
          <a:prstGeom prst="line">
            <a:avLst/>
          </a:prstGeom>
          <a:noFill/>
          <a:ln w="6350">
            <a:solidFill>
              <a:srgbClr val="E2EDF5"/>
            </a:solidFill>
            <a:prstDash val="solid"/>
          </a:ln>
        </p:spPr>
        <p:txBody>
          <a:bodyPr/>
          <a:lstStyle/>
          <a:p>
            <a:endParaRPr lang="en-BW"/>
          </a:p>
        </p:txBody>
      </p:sp>
      <p:sp>
        <p:nvSpPr>
          <p:cNvPr id="14" name="Text 12"/>
          <p:cNvSpPr/>
          <p:nvPr/>
        </p:nvSpPr>
        <p:spPr>
          <a:xfrm>
            <a:off x="457200" y="3429000"/>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[22] Mahamud et al., IMU sensor data via PCM telemetry, AIP Conf. Proc., 2021.</a:t>
            </a:r>
            <a:endParaRPr lang="en-US" sz="1100" dirty="0"/>
          </a:p>
        </p:txBody>
      </p:sp>
      <p:sp>
        <p:nvSpPr>
          <p:cNvPr id="15" name="Shape 13"/>
          <p:cNvSpPr/>
          <p:nvPr/>
        </p:nvSpPr>
        <p:spPr>
          <a:xfrm>
            <a:off x="457200" y="3867912"/>
            <a:ext cx="8229600" cy="0"/>
          </a:xfrm>
          <a:prstGeom prst="line">
            <a:avLst/>
          </a:prstGeom>
          <a:noFill/>
          <a:ln w="6350">
            <a:solidFill>
              <a:srgbClr val="E2EDF5"/>
            </a:solidFill>
            <a:prstDash val="solid"/>
          </a:ln>
        </p:spPr>
        <p:txBody>
          <a:bodyPr/>
          <a:lstStyle/>
          <a:p>
            <a:endParaRPr lang="en-BW"/>
          </a:p>
        </p:txBody>
      </p:sp>
      <p:sp>
        <p:nvSpPr>
          <p:cNvPr id="16" name="Text 14"/>
          <p:cNvSpPr/>
          <p:nvPr/>
        </p:nvSpPr>
        <p:spPr>
          <a:xfrm>
            <a:off x="457200" y="3913632"/>
            <a:ext cx="8229600" cy="420624"/>
          </a:xfrm>
          <a:prstGeom prst="rect">
            <a:avLst/>
          </a:prstGeom>
          <a:noFill/>
          <a:ln/>
        </p:spPr>
        <p:txBody>
          <a:bodyPr wrap="square" lIns="0" tIns="0" rIns="0" bIns="0" rtlCol="0" anchor="ctr"/>
          <a:lstStyle/>
          <a:p>
            <a:pPr marL="0" indent="0">
              <a:buNone/>
            </a:pPr>
            <a:r>
              <a:rPr lang="en-US" sz="1100" dirty="0">
                <a:solidFill>
                  <a:srgbClr val="0A2540"/>
                </a:solidFill>
                <a:latin typeface="Calibri" pitchFamily="34" charset="0"/>
                <a:ea typeface="Calibri" pitchFamily="34" charset="-122"/>
                <a:cs typeface="Calibri" pitchFamily="34" charset="-120"/>
              </a:rPr>
              <a:t>[24] NSW DCCEEW, Darling Baaka River Smart Buoy System, 2025.</a:t>
            </a:r>
            <a:endParaRPr lang="en-US" sz="1100" dirty="0"/>
          </a:p>
        </p:txBody>
      </p:sp>
      <p:sp>
        <p:nvSpPr>
          <p:cNvPr id="18" name="Text 2">
            <a:extLst>
              <a:ext uri="{FF2B5EF4-FFF2-40B4-BE49-F238E27FC236}">
                <a16:creationId xmlns:a16="http://schemas.microsoft.com/office/drawing/2014/main" id="{B0F37617-BA33-204A-DFC8-CDA74EF790E1}"/>
              </a:ext>
            </a:extLst>
          </p:cNvPr>
          <p:cNvSpPr/>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a:extLst>
            <a:ext uri="{FF2B5EF4-FFF2-40B4-BE49-F238E27FC236}">
              <a16:creationId xmlns:a16="http://schemas.microsoft.com/office/drawing/2014/main" id="{574B66C8-0F3F-C2DB-A0F7-EE60A3DE26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F5F151-9798-A97A-0C41-8B7F5B5BE7C5}"/>
              </a:ext>
            </a:extLst>
          </p:cNvPr>
          <p:cNvSpPr/>
          <p:nvPr/>
        </p:nvSpPr>
        <p:spPr>
          <a:xfrm>
            <a:off x="0" y="0"/>
            <a:ext cx="9144000" cy="73152"/>
          </a:xfrm>
          <a:prstGeom prst="rect">
            <a:avLst/>
          </a:prstGeom>
          <a:solidFill>
            <a:srgbClr val="02C39A"/>
          </a:solidFill>
          <a:ln w="12700">
            <a:solidFill>
              <a:srgbClr val="02C39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C764BD0E-51B8-7C3A-4AC9-EC7780F840B3}"/>
              </a:ext>
            </a:extLst>
          </p:cNvPr>
          <p:cNvSpPr/>
          <p:nvPr/>
        </p:nvSpPr>
        <p:spPr>
          <a:xfrm>
            <a:off x="457200" y="1097280"/>
            <a:ext cx="32004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B36078EA-3149-61E7-0790-2DBB8799BCC4}"/>
              </a:ext>
            </a:extLst>
          </p:cNvPr>
          <p:cNvSpPr/>
          <p:nvPr/>
        </p:nvSpPr>
        <p:spPr>
          <a:xfrm>
            <a:off x="457200" y="1719072"/>
            <a:ext cx="32004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48FC2509-ED95-8E99-54CA-5D9533E1C3BE}"/>
              </a:ext>
            </a:extLst>
          </p:cNvPr>
          <p:cNvSpPr/>
          <p:nvPr/>
        </p:nvSpPr>
        <p:spPr>
          <a:xfrm>
            <a:off x="457200" y="3584448"/>
            <a:ext cx="32004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74" name="Picture 2" descr="First Nations people say the Darling Baaka River is sick. A report ...">
            <a:extLst>
              <a:ext uri="{FF2B5EF4-FFF2-40B4-BE49-F238E27FC236}">
                <a16:creationId xmlns:a16="http://schemas.microsoft.com/office/drawing/2014/main" id="{88D0221E-0A84-0B17-3FB2-890B8F27E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 y="0"/>
            <a:ext cx="5808626" cy="5143500"/>
          </a:xfrm>
          <a:prstGeom prst="rect">
            <a:avLst/>
          </a:prstGeom>
          <a:noFill/>
          <a:extLst>
            <a:ext uri="{909E8E84-426E-40DD-AFC4-6F175D3DCCD1}">
              <a14:hiddenFill xmlns:a14="http://schemas.microsoft.com/office/drawing/2010/main">
                <a:solidFill>
                  <a:srgbClr val="FFFFFF"/>
                </a:solidFill>
              </a14:hiddenFill>
            </a:ext>
          </a:extLst>
        </p:spPr>
      </p:pic>
      <p:sp>
        <p:nvSpPr>
          <p:cNvPr id="23" name="Text 21">
            <a:extLst>
              <a:ext uri="{FF2B5EF4-FFF2-40B4-BE49-F238E27FC236}">
                <a16:creationId xmlns:a16="http://schemas.microsoft.com/office/drawing/2014/main" id="{18C53FA5-1478-7444-2C68-6EFB34B6B4FE}"/>
              </a:ext>
            </a:extLst>
          </p:cNvPr>
          <p:cNvSpPr/>
          <p:nvPr/>
        </p:nvSpPr>
        <p:spPr>
          <a:xfrm>
            <a:off x="5727346" y="73152"/>
            <a:ext cx="2959454" cy="5010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Thank you!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Questions are welcome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3608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2798</Words>
  <Application>Microsoft Office PowerPoint</Application>
  <PresentationFormat>On-screen Show (16:9)</PresentationFormat>
  <Paragraphs>328</Paragraphs>
  <Slides>25</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Water Quality Monitoring System — TELE 523</dc:title>
  <dc:subject>PptxGenJS Presentation</dc:subject>
  <dc:creator>PptxGenJS</dc:creator>
  <cp:lastModifiedBy>SEETSELE KGAKOLE</cp:lastModifiedBy>
  <cp:revision>150</cp:revision>
  <dcterms:created xsi:type="dcterms:W3CDTF">2026-04-21T00:58:54Z</dcterms:created>
  <dcterms:modified xsi:type="dcterms:W3CDTF">2026-04-27T16:38:06Z</dcterms:modified>
</cp:coreProperties>
</file>